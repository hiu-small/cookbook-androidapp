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Sau đây chúng em xin trình bày tổng thể toàn bộ kiến trúc và chức năng của ứng dụng CookBook.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Ứng dụng giải quyết trọn vẹn quy trình nấu ăn của người dùng từ khâu khởi động, tra cứu món, tính calo dinh dưỡng đến đi chợ.</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thiết kế ứng dụng dạng Single Activity kết hợp đa Fragment. SQLite và SharedPreferences đảm nhận lưu trữ offline và quản lý tài khoản người dùng.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Luồng nghiệp vụ đi xuyên suốt từ khi mở màn hình Splash, thực hiện đăng nhập, duyệt món ăn ở Trang chủ, xem chi tiết công thức, lưu yêu thích hoặc thêm vào danh sách đi chợ, cuối cùng là đánh dấu mua sắm thành công.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chủ hiển thị danh mục và món ăn phổ biến. Để tìm kiếm tiếng Việt tốt hơn, chúng em phát triển bộ chuẩn hóa không dấu StringHelper giúp người dùng gõ tìm kiếm không dấu tiện lợi.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Màn hình chi tiết hiển thị đầy đủ nguyên liệu, các bước thực hiện và lượng Calo. Từ đây người dùng có hai nút tương tác chính là Thả tim yêu thích và Thêm nguyên liệu trực tiếp vào danh sách đi chợ.</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Màn yêu thích hiển thị dạng lưới và có bộ lọc theo nhiều tiêu chí. Thống kê Calo trung bình và thời gian nấu được tính toán trực tiếp trên RAM giúp nâng cao tốc độ tải của app.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đi chợ sử dụng RecyclerView lồng nhau để hiển thị nguyên liệu theo nhóm món ăn. Khi hoàn tất nấu nướng, món ăn sẽ được ghi nhận vào lịch sử CookHistory của người dùng.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đã hoàn thành toàn bộ các phân hệ từ Splash, Home, Detail, Favorites, Grocery List đến Profile. Tương lai nhóm hướng tới nâng cấp bảo mật và tích hợp đồng bộ dữ liệu trực tuyến.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B2D42"/>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2011680"/>
          </a:xfrm>
          <a:prstGeom prst="rect">
            <a:avLst/>
          </a:prstGeom>
          <a:noFill/>
        </p:spPr>
        <p:txBody>
          <a:bodyPr wrap="square">
            <a:spAutoFit/>
          </a:bodyPr>
          <a:lstStyle/>
          <a:p>
            <a:pPr>
              <a:defRPr sz="5600" b="1">
                <a:solidFill>
                  <a:srgbClr val="FF6B35"/>
                </a:solidFill>
                <a:latin typeface="Arial"/>
              </a:defRPr>
            </a:pPr>
            <a:r>
              <a:t>COOKBOOK APP</a:t>
            </a:r>
          </a:p>
          <a:p>
            <a:pPr>
              <a:defRPr sz="2200" b="1">
                <a:solidFill>
                  <a:srgbClr val="FFFFFF"/>
                </a:solidFill>
                <a:latin typeface="Arial"/>
              </a:defRPr>
            </a:pPr>
            <a:r>
              <a:t>Hệ thống Cẩm nang Nấu ăn &amp; Đi chợ toàn diện trên Android</a:t>
            </a:r>
          </a:p>
        </p:txBody>
      </p:sp>
      <p:sp>
        <p:nvSpPr>
          <p:cNvPr id="4" name="TextBox 3"/>
          <p:cNvSpPr txBox="1"/>
          <p:nvPr/>
        </p:nvSpPr>
        <p:spPr>
          <a:xfrm>
            <a:off x="914400" y="4389120"/>
            <a:ext cx="7315200" cy="1371600"/>
          </a:xfrm>
          <a:prstGeom prst="rect">
            <a:avLst/>
          </a:prstGeom>
          <a:noFill/>
        </p:spPr>
        <p:txBody>
          <a:bodyPr wrap="none">
            <a:spAutoFit/>
          </a:bodyPr>
          <a:lstStyle/>
          <a:p>
            <a:pPr>
              <a:spcAft>
                <a:spcPts val="500"/>
              </a:spcAft>
              <a:defRPr sz="1500" b="1">
                <a:solidFill>
                  <a:srgbClr val="FFFFFF"/>
                </a:solidFill>
                <a:latin typeface="Arial"/>
              </a:defRPr>
            </a:pPr>
            <a:r>
              <a:t>• Báo cáo tổng thể toàn bộ các chức năng trong hệ thống</a:t>
            </a:r>
          </a:p>
          <a:p>
            <a:pPr>
              <a:spcAft>
                <a:spcPts val="500"/>
              </a:spcAft>
              <a:defRPr sz="1300" b="0">
                <a:solidFill>
                  <a:srgbClr val="8C919E"/>
                </a:solidFill>
                <a:latin typeface="Arial"/>
              </a:defRPr>
            </a:pPr>
            <a:r>
              <a:t>• Ngôn ngữ: Java  |  CSDL: SQLite cục bộ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TỔNG QUAN &amp; NHU CẦU THỰC TẾ</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6858000" cy="4389120"/>
          </a:xfrm>
          <a:prstGeom prst="rect">
            <a:avLst/>
          </a:prstGeom>
          <a:noFill/>
        </p:spPr>
        <p:txBody>
          <a:bodyPr wrap="square">
            <a:spAutoFit/>
          </a:bodyPr>
          <a:lstStyle/>
          <a:p>
            <a:pPr>
              <a:spcAft>
                <a:spcPts val="1000"/>
              </a:spcAft>
              <a:defRPr sz="1800" b="1">
                <a:solidFill>
                  <a:srgbClr val="FF6B35"/>
                </a:solidFill>
                <a:latin typeface="Arial"/>
              </a:defRPr>
            </a:pPr>
            <a:r>
              <a:t>• Vấn đề thực tế của người dùng:</a:t>
            </a:r>
          </a:p>
          <a:p>
            <a:pPr>
              <a:spcAft>
                <a:spcPts val="800"/>
              </a:spcAft>
              <a:defRPr sz="1500" b="0">
                <a:solidFill>
                  <a:srgbClr val="2B2D42"/>
                </a:solidFill>
                <a:latin typeface="Arial"/>
              </a:defRPr>
            </a:pPr>
            <a:r>
              <a:t>   - Khó khăn khi lên thực đơn dinh dưỡng hàng ngày hợp lý.</a:t>
            </a:r>
          </a:p>
          <a:p>
            <a:pPr>
              <a:spcAft>
                <a:spcPts val="800"/>
              </a:spcAft>
              <a:defRPr sz="1500" b="0">
                <a:solidFill>
                  <a:srgbClr val="2B2D42"/>
                </a:solidFill>
                <a:latin typeface="Arial"/>
              </a:defRPr>
            </a:pPr>
            <a:r>
              <a:t>   - Thất lạc công thức, không rõ lượng Calo và thời gian nấu.</a:t>
            </a:r>
          </a:p>
          <a:p>
            <a:pPr>
              <a:spcAft>
                <a:spcPts val="1500"/>
              </a:spcAft>
              <a:defRPr sz="1500" b="0">
                <a:solidFill>
                  <a:srgbClr val="2B2D42"/>
                </a:solidFill>
                <a:latin typeface="Arial"/>
              </a:defRPr>
            </a:pPr>
            <a:r>
              <a:t>   - Mua sắm nguyên liệu đi chợ rời rạc, dễ quên trước quên sau.</a:t>
            </a:r>
          </a:p>
          <a:p>
            <a:pPr>
              <a:spcAft>
                <a:spcPts val="1000"/>
              </a:spcAft>
              <a:defRPr sz="1800" b="1">
                <a:solidFill>
                  <a:srgbClr val="FF6B35"/>
                </a:solidFill>
                <a:latin typeface="Arial"/>
              </a:defRPr>
            </a:pPr>
            <a:r>
              <a:t>• Giải pháp khép kín của ứng dụng CookBook:</a:t>
            </a:r>
          </a:p>
          <a:p>
            <a:pPr>
              <a:spcAft>
                <a:spcPts val="800"/>
              </a:spcAft>
              <a:defRPr sz="1500" b="0">
                <a:solidFill>
                  <a:srgbClr val="2B2D42"/>
                </a:solidFill>
                <a:latin typeface="Arial"/>
              </a:defRPr>
            </a:pPr>
            <a:r>
              <a:t>   - Tra cứu và lưu trữ công thức nấu ăn chi tiết theo từng bước.</a:t>
            </a:r>
          </a:p>
          <a:p>
            <a:pPr>
              <a:spcAft>
                <a:spcPts val="800"/>
              </a:spcAft>
              <a:defRPr sz="1500" b="0">
                <a:solidFill>
                  <a:srgbClr val="2B2D42"/>
                </a:solidFill>
                <a:latin typeface="Arial"/>
              </a:defRPr>
            </a:pPr>
            <a:r>
              <a:t>   - Tự động tách nguyên liệu từ món ăn chuyển sang giỏ đi chợ.</a:t>
            </a:r>
          </a:p>
        </p:txBody>
      </p:sp>
      <p:sp>
        <p:nvSpPr>
          <p:cNvPr id="5" name="Rounded Rectangle 4"/>
          <p:cNvSpPr/>
          <p:nvPr/>
        </p:nvSpPr>
        <p:spPr>
          <a:xfrm>
            <a:off x="8686800" y="1645920"/>
            <a:ext cx="2194560" cy="4389120"/>
          </a:xfrm>
          <a:prstGeom prst="roundRect">
            <a:avLst/>
          </a:prstGeom>
          <a:solidFill>
            <a:srgbClr val="F0F0F3"/>
          </a:solidFill>
          <a:ln w="19050">
            <a:solidFill>
              <a:srgbClr val="B4B4B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defRPr sz="1000" b="1">
                <a:solidFill>
                  <a:srgbClr val="8C919E"/>
                </a:solidFill>
                <a:latin typeface="Arial"/>
              </a:defRPr>
            </a:pPr>
            <a:br/>
            <a:br/>
            <a:br/>
            <a:br/>
            <a:r>
              <a:t>[ Kéo ảnh ]</a:t>
            </a:r>
            <a:br/>
            <a:r>
              <a:t>Màn hình Khởi động</a:t>
            </a:r>
            <a:br/>
            <a:r>
              <a:t>(SplashActivity)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KIẾN TRÚC VÀ CÔNG NGHỆ SỬ DỤNG</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828800"/>
            <a:ext cx="2468880" cy="3474720"/>
          </a:xfrm>
          <a:prstGeom prst="rect">
            <a:avLst/>
          </a:prstGeom>
          <a:solidFill>
            <a:srgbClr val="2B2D4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200"/>
              </a:spcAft>
              <a:defRPr sz="1800" b="1">
                <a:solidFill>
                  <a:srgbClr val="FF6B35"/>
                </a:solidFill>
                <a:latin typeface="Arial"/>
              </a:defRPr>
            </a:pPr>
            <a:r>
              <a:t>JAVA &amp; XML</a:t>
            </a:r>
          </a:p>
          <a:p>
            <a:pPr>
              <a:spcAft>
                <a:spcPts val="1500"/>
              </a:spcAft>
              <a:defRPr sz="1100" b="1">
                <a:solidFill>
                  <a:srgbClr val="8C919E"/>
                </a:solidFill>
                <a:latin typeface="Arial"/>
              </a:defRPr>
            </a:pPr>
            <a:r>
              <a:t>Android Native</a:t>
            </a:r>
          </a:p>
          <a:p>
            <a:pPr>
              <a:spcAft>
                <a:spcPts val="800"/>
              </a:spcAft>
              <a:defRPr sz="1300" b="0">
                <a:solidFill>
                  <a:srgbClr val="FFFFFF"/>
                </a:solidFill>
                <a:latin typeface="Arial"/>
              </a:defRPr>
            </a:pPr>
            <a:r>
              <a:t>Sử dụng Single Activity (MainActivity, AuthActivity) kết hợp nhiều Fragment để giao diện phản hồi nhanh, mượt.</a:t>
            </a:r>
          </a:p>
        </p:txBody>
      </p:sp>
      <p:sp>
        <p:nvSpPr>
          <p:cNvPr id="5" name="Rectangle 4"/>
          <p:cNvSpPr/>
          <p:nvPr/>
        </p:nvSpPr>
        <p:spPr>
          <a:xfrm>
            <a:off x="3429000" y="1828800"/>
            <a:ext cx="2468880" cy="3474720"/>
          </a:xfrm>
          <a:prstGeom prst="rect">
            <a:avLst/>
          </a:prstGeom>
          <a:solidFill>
            <a:srgbClr val="2B2D4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200"/>
              </a:spcAft>
              <a:defRPr sz="1800" b="1">
                <a:solidFill>
                  <a:srgbClr val="FF6B35"/>
                </a:solidFill>
                <a:latin typeface="Arial"/>
              </a:defRPr>
            </a:pPr>
            <a:r>
              <a:t>SQLITE</a:t>
            </a:r>
          </a:p>
          <a:p>
            <a:pPr>
              <a:spcAft>
                <a:spcPts val="1500"/>
              </a:spcAft>
              <a:defRPr sz="1100" b="1">
                <a:solidFill>
                  <a:srgbClr val="8C919E"/>
                </a:solidFill>
                <a:latin typeface="Arial"/>
              </a:defRPr>
            </a:pPr>
            <a:r>
              <a:t>DatabaseHelper</a:t>
            </a:r>
          </a:p>
          <a:p>
            <a:pPr>
              <a:spcAft>
                <a:spcPts val="800"/>
              </a:spcAft>
              <a:defRPr sz="1300" b="0">
                <a:solidFill>
                  <a:srgbClr val="FFFFFF"/>
                </a:solidFill>
                <a:latin typeface="Arial"/>
              </a:defRPr>
            </a:pPr>
            <a:r>
              <a:t>Cơ sở dữ liệu cục bộ, quản lý các bảng quan hệ. Bật ràng buộc khóa ngoại để CASCADE dữ liệu tự động dọn rác.</a:t>
            </a:r>
          </a:p>
        </p:txBody>
      </p:sp>
      <p:sp>
        <p:nvSpPr>
          <p:cNvPr id="6" name="Rectangle 5"/>
          <p:cNvSpPr/>
          <p:nvPr/>
        </p:nvSpPr>
        <p:spPr>
          <a:xfrm>
            <a:off x="6172200" y="1828800"/>
            <a:ext cx="2468880" cy="3474720"/>
          </a:xfrm>
          <a:prstGeom prst="rect">
            <a:avLst/>
          </a:prstGeom>
          <a:solidFill>
            <a:srgbClr val="2B2D4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200"/>
              </a:spcAft>
              <a:defRPr sz="1800" b="1">
                <a:solidFill>
                  <a:srgbClr val="FF6B35"/>
                </a:solidFill>
                <a:latin typeface="Arial"/>
              </a:defRPr>
            </a:pPr>
            <a:r>
              <a:t>SHAREDPREF</a:t>
            </a:r>
          </a:p>
          <a:p>
            <a:pPr>
              <a:spcAft>
                <a:spcPts val="1500"/>
              </a:spcAft>
              <a:defRPr sz="1100" b="1">
                <a:solidFill>
                  <a:srgbClr val="8C919E"/>
                </a:solidFill>
                <a:latin typeface="Arial"/>
              </a:defRPr>
            </a:pPr>
            <a:r>
              <a:t>Session System</a:t>
            </a:r>
          </a:p>
          <a:p>
            <a:pPr>
              <a:spcAft>
                <a:spcPts val="800"/>
              </a:spcAft>
              <a:defRPr sz="1300" b="0">
                <a:solidFill>
                  <a:srgbClr val="FFFFFF"/>
                </a:solidFill>
                <a:latin typeface="Arial"/>
              </a:defRPr>
            </a:pPr>
            <a:r>
              <a:t>Lưu trữ userId cục bộ ở chế độ bảo mật MODE_PRIVATE nhằm ghi nhớ trạng thái người dùng đã đăng nhập.</a:t>
            </a:r>
          </a:p>
        </p:txBody>
      </p:sp>
      <p:sp>
        <p:nvSpPr>
          <p:cNvPr id="7" name="Rectangle 6"/>
          <p:cNvSpPr/>
          <p:nvPr/>
        </p:nvSpPr>
        <p:spPr>
          <a:xfrm>
            <a:off x="8915400" y="1828800"/>
            <a:ext cx="2468880" cy="3474720"/>
          </a:xfrm>
          <a:prstGeom prst="rect">
            <a:avLst/>
          </a:prstGeom>
          <a:solidFill>
            <a:srgbClr val="2B2D4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200"/>
              </a:spcAft>
              <a:defRPr sz="1800" b="1">
                <a:solidFill>
                  <a:srgbClr val="FF6B35"/>
                </a:solidFill>
                <a:latin typeface="Arial"/>
              </a:defRPr>
            </a:pPr>
            <a:r>
              <a:t>MATERIAL UI</a:t>
            </a:r>
          </a:p>
          <a:p>
            <a:pPr>
              <a:spcAft>
                <a:spcPts val="1500"/>
              </a:spcAft>
              <a:defRPr sz="1100" b="1">
                <a:solidFill>
                  <a:srgbClr val="8C919E"/>
                </a:solidFill>
                <a:latin typeface="Arial"/>
              </a:defRPr>
            </a:pPr>
            <a:r>
              <a:t>Google Design</a:t>
            </a:r>
          </a:p>
          <a:p>
            <a:pPr>
              <a:spcAft>
                <a:spcPts val="800"/>
              </a:spcAft>
              <a:defRPr sz="1300" b="0">
                <a:solidFill>
                  <a:srgbClr val="FFFFFF"/>
                </a:solidFill>
                <a:latin typeface="Arial"/>
              </a:defRPr>
            </a:pPr>
            <a:r>
              <a:t>Sử dụng CardView, BottomNavigationView, Custom Adapters cho RecyclerView lồng nhau, ProgressBar đổi màu.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LUỒNG NGHIỆP VỤ TOÀN DIỆN TRÊN APP</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2011680"/>
            <a:ext cx="1600200" cy="3200400"/>
          </a:xfrm>
          <a:prstGeom prst="roundRect">
            <a:avLst/>
          </a:prstGeom>
          <a:solidFill>
            <a:srgbClr val="FFFFFF"/>
          </a:solidFill>
          <a:ln w="190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09728"/>
          <a:lstStyle/>
          <a:p>
            <a:pPr algn="ctr">
              <a:spcAft>
                <a:spcPts val="500"/>
              </a:spcAft>
              <a:defRPr sz="1200" b="1">
                <a:solidFill>
                  <a:srgbClr val="FF6B35"/>
                </a:solidFill>
                <a:latin typeface="Arial"/>
              </a:defRPr>
            </a:pPr>
            <a:r>
              <a:t>BƯỚC 1</a:t>
            </a:r>
          </a:p>
          <a:p>
            <a:pPr>
              <a:spcAft>
                <a:spcPts val="800"/>
              </a:spcAft>
              <a:defRPr sz="1300" b="1">
                <a:solidFill>
                  <a:srgbClr val="2B2D42"/>
                </a:solidFill>
                <a:latin typeface="Arial"/>
              </a:defRPr>
            </a:pPr>
            <a:r>
              <a:t>Khởi động</a:t>
            </a:r>
          </a:p>
          <a:p>
            <a:pPr>
              <a:spcAft>
                <a:spcPts val="500"/>
              </a:spcAft>
              <a:defRPr sz="1100" b="0">
                <a:solidFill>
                  <a:srgbClr val="8C919E"/>
                </a:solidFill>
                <a:latin typeface="Arial"/>
              </a:defRPr>
            </a:pPr>
            <a:r>
              <a:t>Splash screen hiển thị logo thương hiệu ứng dụng.</a:t>
            </a:r>
          </a:p>
        </p:txBody>
      </p:sp>
      <p:sp>
        <p:nvSpPr>
          <p:cNvPr id="5" name="Rounded Rectangle 4"/>
          <p:cNvSpPr/>
          <p:nvPr/>
        </p:nvSpPr>
        <p:spPr>
          <a:xfrm>
            <a:off x="2468880" y="2011680"/>
            <a:ext cx="1600200" cy="3200400"/>
          </a:xfrm>
          <a:prstGeom prst="roundRect">
            <a:avLst/>
          </a:prstGeom>
          <a:solidFill>
            <a:srgbClr val="FFFFFF"/>
          </a:solidFill>
          <a:ln w="190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09728"/>
          <a:lstStyle/>
          <a:p>
            <a:pPr algn="ctr">
              <a:spcAft>
                <a:spcPts val="500"/>
              </a:spcAft>
              <a:defRPr sz="1200" b="1">
                <a:solidFill>
                  <a:srgbClr val="FF6B35"/>
                </a:solidFill>
                <a:latin typeface="Arial"/>
              </a:defRPr>
            </a:pPr>
            <a:r>
              <a:t>BƯỚC 2</a:t>
            </a:r>
          </a:p>
          <a:p>
            <a:pPr>
              <a:spcAft>
                <a:spcPts val="800"/>
              </a:spcAft>
              <a:defRPr sz="1300" b="1">
                <a:solidFill>
                  <a:srgbClr val="2B2D42"/>
                </a:solidFill>
                <a:latin typeface="Arial"/>
              </a:defRPr>
            </a:pPr>
            <a:r>
              <a:t>Xác thực</a:t>
            </a:r>
          </a:p>
          <a:p>
            <a:pPr>
              <a:spcAft>
                <a:spcPts val="500"/>
              </a:spcAft>
              <a:defRPr sz="1100" b="0">
                <a:solidFill>
                  <a:srgbClr val="8C919E"/>
                </a:solidFill>
                <a:latin typeface="Arial"/>
              </a:defRPr>
            </a:pPr>
            <a:r>
              <a:t>Đăng ký hoặc đăng nhập tài khoản người dùng.</a:t>
            </a:r>
          </a:p>
        </p:txBody>
      </p:sp>
      <p:sp>
        <p:nvSpPr>
          <p:cNvPr id="6" name="Rounded Rectangle 5"/>
          <p:cNvSpPr/>
          <p:nvPr/>
        </p:nvSpPr>
        <p:spPr>
          <a:xfrm>
            <a:off x="4251960" y="2011680"/>
            <a:ext cx="1600200" cy="3200400"/>
          </a:xfrm>
          <a:prstGeom prst="roundRect">
            <a:avLst/>
          </a:prstGeom>
          <a:solidFill>
            <a:srgbClr val="FFFFFF"/>
          </a:solidFill>
          <a:ln w="190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09728"/>
          <a:lstStyle/>
          <a:p>
            <a:pPr algn="ctr">
              <a:spcAft>
                <a:spcPts val="500"/>
              </a:spcAft>
              <a:defRPr sz="1200" b="1">
                <a:solidFill>
                  <a:srgbClr val="FF6B35"/>
                </a:solidFill>
                <a:latin typeface="Arial"/>
              </a:defRPr>
            </a:pPr>
            <a:r>
              <a:t>BƯỚC 3</a:t>
            </a:r>
          </a:p>
          <a:p>
            <a:pPr>
              <a:spcAft>
                <a:spcPts val="800"/>
              </a:spcAft>
              <a:defRPr sz="1300" b="1">
                <a:solidFill>
                  <a:srgbClr val="2B2D42"/>
                </a:solidFill>
                <a:latin typeface="Arial"/>
              </a:defRPr>
            </a:pPr>
            <a:r>
              <a:t>Khám phá</a:t>
            </a:r>
          </a:p>
          <a:p>
            <a:pPr>
              <a:spcAft>
                <a:spcPts val="500"/>
              </a:spcAft>
              <a:defRPr sz="1100" b="0">
                <a:solidFill>
                  <a:srgbClr val="8C919E"/>
                </a:solidFill>
                <a:latin typeface="Arial"/>
              </a:defRPr>
            </a:pPr>
            <a:r>
              <a:t>Xem danh mục, Today's Pick hoặc Tìm kiếm không dấu.</a:t>
            </a:r>
          </a:p>
        </p:txBody>
      </p:sp>
      <p:sp>
        <p:nvSpPr>
          <p:cNvPr id="7" name="Rounded Rectangle 6"/>
          <p:cNvSpPr/>
          <p:nvPr/>
        </p:nvSpPr>
        <p:spPr>
          <a:xfrm>
            <a:off x="6035040" y="2011680"/>
            <a:ext cx="1600200" cy="3200400"/>
          </a:xfrm>
          <a:prstGeom prst="roundRect">
            <a:avLst/>
          </a:prstGeom>
          <a:solidFill>
            <a:srgbClr val="FFFFFF"/>
          </a:solidFill>
          <a:ln w="190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09728"/>
          <a:lstStyle/>
          <a:p>
            <a:pPr algn="ctr">
              <a:spcAft>
                <a:spcPts val="500"/>
              </a:spcAft>
              <a:defRPr sz="1200" b="1">
                <a:solidFill>
                  <a:srgbClr val="FF6B35"/>
                </a:solidFill>
                <a:latin typeface="Arial"/>
              </a:defRPr>
            </a:pPr>
            <a:r>
              <a:t>BƯỚC 4</a:t>
            </a:r>
          </a:p>
          <a:p>
            <a:pPr>
              <a:spcAft>
                <a:spcPts val="800"/>
              </a:spcAft>
              <a:defRPr sz="1300" b="1">
                <a:solidFill>
                  <a:srgbClr val="2B2D42"/>
                </a:solidFill>
                <a:latin typeface="Arial"/>
              </a:defRPr>
            </a:pPr>
            <a:r>
              <a:t>Xem chi tiết</a:t>
            </a:r>
          </a:p>
          <a:p>
            <a:pPr>
              <a:spcAft>
                <a:spcPts val="500"/>
              </a:spcAft>
              <a:defRPr sz="1100" b="0">
                <a:solidFill>
                  <a:srgbClr val="8C919E"/>
                </a:solidFill>
                <a:latin typeface="Arial"/>
              </a:defRPr>
            </a:pPr>
            <a:r>
              <a:t>Xem các bước nấu ăn và danh sách nguyên liệu.</a:t>
            </a:r>
          </a:p>
        </p:txBody>
      </p:sp>
      <p:sp>
        <p:nvSpPr>
          <p:cNvPr id="8" name="Rounded Rectangle 7"/>
          <p:cNvSpPr/>
          <p:nvPr/>
        </p:nvSpPr>
        <p:spPr>
          <a:xfrm>
            <a:off x="7818120" y="2011680"/>
            <a:ext cx="1600200" cy="3200400"/>
          </a:xfrm>
          <a:prstGeom prst="roundRect">
            <a:avLst/>
          </a:prstGeom>
          <a:solidFill>
            <a:srgbClr val="FFFFFF"/>
          </a:solidFill>
          <a:ln w="190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09728"/>
          <a:lstStyle/>
          <a:p>
            <a:pPr algn="ctr">
              <a:spcAft>
                <a:spcPts val="500"/>
              </a:spcAft>
              <a:defRPr sz="1200" b="1">
                <a:solidFill>
                  <a:srgbClr val="FF6B35"/>
                </a:solidFill>
                <a:latin typeface="Arial"/>
              </a:defRPr>
            </a:pPr>
            <a:r>
              <a:t>BƯỚC 5</a:t>
            </a:r>
          </a:p>
          <a:p>
            <a:pPr>
              <a:spcAft>
                <a:spcPts val="800"/>
              </a:spcAft>
              <a:defRPr sz="1300" b="1">
                <a:solidFill>
                  <a:srgbClr val="2B2D42"/>
                </a:solidFill>
                <a:latin typeface="Arial"/>
              </a:defRPr>
            </a:pPr>
            <a:r>
              <a:t>Lưu &amp; Đi chợ</a:t>
            </a:r>
          </a:p>
          <a:p>
            <a:pPr>
              <a:spcAft>
                <a:spcPts val="500"/>
              </a:spcAft>
              <a:defRPr sz="1100" b="0">
                <a:solidFill>
                  <a:srgbClr val="8C919E"/>
                </a:solidFill>
                <a:latin typeface="Arial"/>
              </a:defRPr>
            </a:pPr>
            <a:r>
              <a:t>Thả tim yêu thích và bấm thêm đồ đi chợ.</a:t>
            </a:r>
          </a:p>
        </p:txBody>
      </p:sp>
      <p:sp>
        <p:nvSpPr>
          <p:cNvPr id="9" name="Rounded Rectangle 8"/>
          <p:cNvSpPr/>
          <p:nvPr/>
        </p:nvSpPr>
        <p:spPr>
          <a:xfrm>
            <a:off x="9601200" y="2011680"/>
            <a:ext cx="1600200" cy="3200400"/>
          </a:xfrm>
          <a:prstGeom prst="roundRect">
            <a:avLst/>
          </a:prstGeom>
          <a:solidFill>
            <a:srgbClr val="FFFFFF"/>
          </a:solidFill>
          <a:ln w="190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109728"/>
          <a:lstStyle/>
          <a:p>
            <a:pPr algn="ctr">
              <a:spcAft>
                <a:spcPts val="500"/>
              </a:spcAft>
              <a:defRPr sz="1200" b="1">
                <a:solidFill>
                  <a:srgbClr val="FF6B35"/>
                </a:solidFill>
                <a:latin typeface="Arial"/>
              </a:defRPr>
            </a:pPr>
            <a:r>
              <a:t>BƯỚC 6</a:t>
            </a:r>
          </a:p>
          <a:p>
            <a:pPr>
              <a:spcAft>
                <a:spcPts val="800"/>
              </a:spcAft>
              <a:defRPr sz="1300" b="1">
                <a:solidFill>
                  <a:srgbClr val="2B2D42"/>
                </a:solidFill>
                <a:latin typeface="Arial"/>
              </a:defRPr>
            </a:pPr>
            <a:r>
              <a:t>Đi chợ &amp; Lưu LS</a:t>
            </a:r>
          </a:p>
          <a:p>
            <a:pPr>
              <a:spcAft>
                <a:spcPts val="500"/>
              </a:spcAft>
              <a:defRPr sz="1100" b="0">
                <a:solidFill>
                  <a:srgbClr val="8C919E"/>
                </a:solidFill>
                <a:latin typeface="Arial"/>
              </a:defRPr>
            </a:pPr>
            <a:r>
              <a:t>Tích mua nguyên liệu hoàn tất &amp; Lưu lịch sử nấu.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TRANG CHỦ &amp; TÌM KIẾM KHÔNG DẤU</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5486400" cy="4389120"/>
          </a:xfrm>
          <a:prstGeom prst="rect">
            <a:avLst/>
          </a:prstGeom>
          <a:noFill/>
        </p:spPr>
        <p:txBody>
          <a:bodyPr wrap="square">
            <a:spAutoFit/>
          </a:bodyPr>
          <a:lstStyle/>
          <a:p>
            <a:pPr>
              <a:spcAft>
                <a:spcPts val="800"/>
              </a:spcAft>
              <a:defRPr sz="1800" b="1">
                <a:solidFill>
                  <a:srgbClr val="FF6B35"/>
                </a:solidFill>
                <a:latin typeface="Arial"/>
              </a:defRPr>
            </a:pPr>
            <a:r>
              <a:t>• Trang chủ (HomeFragment):</a:t>
            </a:r>
          </a:p>
          <a:p>
            <a:pPr>
              <a:spcAft>
                <a:spcPts val="500"/>
              </a:spcAft>
              <a:defRPr sz="1500" b="0">
                <a:solidFill>
                  <a:srgbClr val="2B2D42"/>
                </a:solidFill>
                <a:latin typeface="Arial"/>
              </a:defRPr>
            </a:pPr>
            <a:r>
              <a:t>   - Hiển thị danh sách Danh mục món ăn (Category).</a:t>
            </a:r>
          </a:p>
          <a:p>
            <a:pPr>
              <a:spcAft>
                <a:spcPts val="500"/>
              </a:spcAft>
              <a:defRPr sz="1500" b="0">
                <a:solidFill>
                  <a:srgbClr val="2B2D42"/>
                </a:solidFill>
                <a:latin typeface="Arial"/>
              </a:defRPr>
            </a:pPr>
            <a:r>
              <a:t>   - Gợi ý món phổ biến (Popular Recipes) dựa trên Rating cao.</a:t>
            </a:r>
          </a:p>
          <a:p>
            <a:pPr>
              <a:spcAft>
                <a:spcPts val="1500"/>
              </a:spcAft>
              <a:defRPr sz="1500" b="0">
                <a:solidFill>
                  <a:srgbClr val="2B2D42"/>
                </a:solidFill>
                <a:latin typeface="Arial"/>
              </a:defRPr>
            </a:pPr>
            <a:r>
              <a:t>   - Đề xuất ngẫu nhiên món hôm nay (Today's Pick - getRandomRecipe).</a:t>
            </a:r>
          </a:p>
          <a:p>
            <a:pPr>
              <a:spcAft>
                <a:spcPts val="800"/>
              </a:spcAft>
              <a:defRPr sz="1800" b="1">
                <a:solidFill>
                  <a:srgbClr val="FF6B35"/>
                </a:solidFill>
                <a:latin typeface="Arial"/>
              </a:defRPr>
            </a:pPr>
            <a:r>
              <a:t>• Tìm kiếm thông minh (SearchFragment):</a:t>
            </a:r>
          </a:p>
          <a:p>
            <a:pPr>
              <a:spcAft>
                <a:spcPts val="500"/>
              </a:spcAft>
              <a:defRPr sz="1500" b="0">
                <a:solidFill>
                  <a:srgbClr val="2B2D42"/>
                </a:solidFill>
                <a:latin typeface="Arial"/>
              </a:defRPr>
            </a:pPr>
            <a:r>
              <a:t>   - Sử dụng StringHelper.removeAccents loại bỏ tiếng Việt có dấu.</a:t>
            </a:r>
          </a:p>
          <a:p>
            <a:pPr>
              <a:spcAft>
                <a:spcPts val="500"/>
              </a:spcAft>
              <a:defRPr sz="1500" b="0">
                <a:solidFill>
                  <a:srgbClr val="2B2D42"/>
                </a:solidFill>
                <a:latin typeface="Arial"/>
              </a:defRPr>
            </a:pPr>
            <a:r>
              <a:t>   - Cho phép gõ 'pho bo' vẫn ra 'Phở Bò Hà Nội', nâng cao trải nghiệm tìm kiếm của người dùng.</a:t>
            </a:r>
          </a:p>
        </p:txBody>
      </p:sp>
      <p:sp>
        <p:nvSpPr>
          <p:cNvPr id="5" name="Rounded Rectangle 4"/>
          <p:cNvSpPr/>
          <p:nvPr/>
        </p:nvSpPr>
        <p:spPr>
          <a:xfrm>
            <a:off x="6858000" y="1645920"/>
            <a:ext cx="2011680" cy="4023360"/>
          </a:xfrm>
          <a:prstGeom prst="roundRect">
            <a:avLst/>
          </a:prstGeom>
          <a:solidFill>
            <a:srgbClr val="F0F0F3"/>
          </a:solidFill>
          <a:ln w="19050">
            <a:solidFill>
              <a:srgbClr val="B4B4B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defRPr sz="1000" b="1">
                <a:solidFill>
                  <a:srgbClr val="8C919E"/>
                </a:solidFill>
                <a:latin typeface="Arial"/>
              </a:defRPr>
            </a:pPr>
            <a:br/>
            <a:br/>
            <a:br/>
            <a:br/>
            <a:r>
              <a:t>[ Kéo ảnh ]</a:t>
            </a:r>
            <a:br/>
            <a:r>
              <a:t>Màn Trang chủ</a:t>
            </a:r>
            <a:br/>
            <a:r>
              <a:t>(HomeFragment)</a:t>
            </a:r>
          </a:p>
        </p:txBody>
      </p:sp>
      <p:sp>
        <p:nvSpPr>
          <p:cNvPr id="6" name="Rounded Rectangle 5"/>
          <p:cNvSpPr/>
          <p:nvPr/>
        </p:nvSpPr>
        <p:spPr>
          <a:xfrm>
            <a:off x="9235440" y="1645920"/>
            <a:ext cx="2011680" cy="4023360"/>
          </a:xfrm>
          <a:prstGeom prst="roundRect">
            <a:avLst/>
          </a:prstGeom>
          <a:solidFill>
            <a:srgbClr val="F0F0F3"/>
          </a:solidFill>
          <a:ln w="19050">
            <a:solidFill>
              <a:srgbClr val="B4B4B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defRPr sz="1000" b="1">
                <a:solidFill>
                  <a:srgbClr val="8C919E"/>
                </a:solidFill>
                <a:latin typeface="Arial"/>
              </a:defRPr>
            </a:pPr>
            <a:br/>
            <a:br/>
            <a:br/>
            <a:br/>
            <a:r>
              <a:t>[ Kéo ảnh ]</a:t>
            </a:r>
            <a:br/>
            <a:r>
              <a:t>Màn Tìm kiếm</a:t>
            </a:r>
            <a:br/>
            <a:r>
              <a:t>(SearchFragment)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CHI TIẾT MÓN ĂN (DETAIL)</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5486400" cy="4389120"/>
          </a:xfrm>
          <a:prstGeom prst="rect">
            <a:avLst/>
          </a:prstGeom>
          <a:noFill/>
        </p:spPr>
        <p:txBody>
          <a:bodyPr wrap="square">
            <a:spAutoFit/>
          </a:bodyPr>
          <a:lstStyle/>
          <a:p>
            <a:pPr>
              <a:spcAft>
                <a:spcPts val="800"/>
              </a:spcAft>
              <a:defRPr sz="1800" b="1">
                <a:solidFill>
                  <a:srgbClr val="FF6B35"/>
                </a:solidFill>
                <a:latin typeface="Arial"/>
              </a:defRPr>
            </a:pPr>
            <a:r>
              <a:t>• Hiển thị thông số tổng quan:</a:t>
            </a:r>
          </a:p>
          <a:p>
            <a:pPr>
              <a:spcAft>
                <a:spcPts val="1500"/>
              </a:spcAft>
              <a:defRPr sz="1500" b="0">
                <a:solidFill>
                  <a:srgbClr val="2B2D42"/>
                </a:solidFill>
                <a:latin typeface="Arial"/>
              </a:defRPr>
            </a:pPr>
            <a:r>
              <a:t>   - Lượng Calo, thời gian nấu, độ khó, khẩu phần ăn.</a:t>
            </a:r>
          </a:p>
          <a:p>
            <a:pPr>
              <a:spcAft>
                <a:spcPts val="800"/>
              </a:spcAft>
              <a:defRPr sz="1800" b="1">
                <a:solidFill>
                  <a:srgbClr val="FF6B35"/>
                </a:solidFill>
                <a:latin typeface="Arial"/>
              </a:defRPr>
            </a:pPr>
            <a:r>
              <a:t>• Hướng dẫn chi tiết:</a:t>
            </a:r>
          </a:p>
          <a:p>
            <a:pPr>
              <a:spcAft>
                <a:spcPts val="500"/>
              </a:spcAft>
              <a:defRPr sz="1500" b="0">
                <a:solidFill>
                  <a:srgbClr val="2B2D42"/>
                </a:solidFill>
                <a:latin typeface="Arial"/>
              </a:defRPr>
            </a:pPr>
            <a:r>
              <a:t>   - Danh sách nguyên liệu cần chuẩn bị (Ingredient).</a:t>
            </a:r>
          </a:p>
          <a:p>
            <a:pPr>
              <a:spcAft>
                <a:spcPts val="1500"/>
              </a:spcAft>
              <a:defRPr sz="1500" b="0">
                <a:solidFill>
                  <a:srgbClr val="2B2D42"/>
                </a:solidFill>
                <a:latin typeface="Arial"/>
              </a:defRPr>
            </a:pPr>
            <a:r>
              <a:t>   - Các bước nấu ăn chi tiết (Step) kèm hình ảnh trực quan.</a:t>
            </a:r>
          </a:p>
          <a:p>
            <a:pPr>
              <a:spcAft>
                <a:spcPts val="800"/>
              </a:spcAft>
              <a:defRPr sz="1800" b="1">
                <a:solidFill>
                  <a:srgbClr val="FF6B35"/>
                </a:solidFill>
                <a:latin typeface="Arial"/>
              </a:defRPr>
            </a:pPr>
            <a:r>
              <a:t>• Điểm chạm tương tác chính:</a:t>
            </a:r>
          </a:p>
          <a:p>
            <a:pPr>
              <a:spcAft>
                <a:spcPts val="500"/>
              </a:spcAft>
              <a:defRPr sz="1500" b="0">
                <a:solidFill>
                  <a:srgbClr val="2B2D42"/>
                </a:solidFill>
                <a:latin typeface="Arial"/>
              </a:defRPr>
            </a:pPr>
            <a:r>
              <a:t>   - Nút Yêu thích (Tim đỏ) cập nhật trạng thái yêu thích nhanh.</a:t>
            </a:r>
          </a:p>
          <a:p>
            <a:pPr>
              <a:spcAft>
                <a:spcPts val="500"/>
              </a:spcAft>
              <a:defRPr sz="1500" b="0">
                <a:solidFill>
                  <a:srgbClr val="2B2D42"/>
                </a:solidFill>
                <a:latin typeface="Arial"/>
              </a:defRPr>
            </a:pPr>
            <a:r>
              <a:t>   - Nút Thêm vào đi chợ: Tự động bóc nguyên liệu chuyển sang mục đi chợ tiện lợi.</a:t>
            </a:r>
          </a:p>
        </p:txBody>
      </p:sp>
      <p:sp>
        <p:nvSpPr>
          <p:cNvPr id="5" name="Rounded Rectangle 4"/>
          <p:cNvSpPr/>
          <p:nvPr/>
        </p:nvSpPr>
        <p:spPr>
          <a:xfrm>
            <a:off x="7772400" y="1645920"/>
            <a:ext cx="2560320" cy="4389120"/>
          </a:xfrm>
          <a:prstGeom prst="roundRect">
            <a:avLst/>
          </a:prstGeom>
          <a:solidFill>
            <a:srgbClr val="F0F0F3"/>
          </a:solidFill>
          <a:ln w="19050">
            <a:solidFill>
              <a:srgbClr val="B4B4B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defRPr sz="1000" b="1">
                <a:solidFill>
                  <a:srgbClr val="8C919E"/>
                </a:solidFill>
                <a:latin typeface="Arial"/>
              </a:defRPr>
            </a:pPr>
            <a:br/>
            <a:br/>
            <a:br/>
            <a:br/>
            <a:r>
              <a:t>[ Kéo ảnh ]</a:t>
            </a:r>
            <a:br/>
            <a:r>
              <a:t>Màn Chi tiết món ăn</a:t>
            </a:r>
            <a:br/>
            <a:r>
              <a:t>(DetailActivity)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YÊU THÍCH &amp; THỐNG KÊ DINH DƯỠNG</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5486400" cy="4389120"/>
          </a:xfrm>
          <a:prstGeom prst="rect">
            <a:avLst/>
          </a:prstGeom>
          <a:noFill/>
        </p:spPr>
        <p:txBody>
          <a:bodyPr wrap="square">
            <a:spAutoFit/>
          </a:bodyPr>
          <a:lstStyle/>
          <a:p>
            <a:pPr>
              <a:spcAft>
                <a:spcPts val="800"/>
              </a:spcAft>
              <a:defRPr sz="1800" b="1">
                <a:solidFill>
                  <a:srgbClr val="FF6B35"/>
                </a:solidFill>
                <a:latin typeface="Arial"/>
              </a:defRPr>
            </a:pPr>
            <a:r>
              <a:t>• Quản lý Yêu thích (FavoritesFragment):</a:t>
            </a:r>
          </a:p>
          <a:p>
            <a:pPr>
              <a:spcAft>
                <a:spcPts val="500"/>
              </a:spcAft>
              <a:defRPr sz="1500" b="0">
                <a:solidFill>
                  <a:srgbClr val="2B2D42"/>
                </a:solidFill>
                <a:latin typeface="Arial"/>
              </a:defRPr>
            </a:pPr>
            <a:r>
              <a:t>   - Sử dụng khóa chính kết hợp (userId, recipeId) trong SQLite.</a:t>
            </a:r>
          </a:p>
          <a:p>
            <a:pPr>
              <a:spcAft>
                <a:spcPts val="1500"/>
              </a:spcAft>
              <a:defRPr sz="1500" b="0">
                <a:solidFill>
                  <a:srgbClr val="2B2D42"/>
                </a:solidFill>
                <a:latin typeface="Arial"/>
              </a:defRPr>
            </a:pPr>
            <a:r>
              <a:t>   - Lọc sắp xếp theo Ngày thêm, tiêu đề A-Z, và Độ khó (CASE WHEN).</a:t>
            </a:r>
          </a:p>
          <a:p>
            <a:pPr>
              <a:spcAft>
                <a:spcPts val="800"/>
              </a:spcAft>
              <a:defRPr sz="1800" b="1">
                <a:solidFill>
                  <a:srgbClr val="FF6B35"/>
                </a:solidFill>
                <a:latin typeface="Arial"/>
              </a:defRPr>
            </a:pPr>
            <a:r>
              <a:t>• Thẻ thống kê dinh dưỡng thông minh:</a:t>
            </a:r>
          </a:p>
          <a:p>
            <a:pPr>
              <a:spcAft>
                <a:spcPts val="500"/>
              </a:spcAft>
              <a:defRPr sz="1500" b="0">
                <a:solidFill>
                  <a:srgbClr val="2B2D42"/>
                </a:solidFill>
                <a:latin typeface="Arial"/>
              </a:defRPr>
            </a:pPr>
            <a:r>
              <a:t>   - Hiển thị: Tổng số món đã lưu, Calo trung bình, Thời gian nấu trung bình.</a:t>
            </a:r>
          </a:p>
          <a:p>
            <a:pPr>
              <a:spcAft>
                <a:spcPts val="500"/>
              </a:spcAft>
              <a:defRPr sz="1500" b="0">
                <a:solidFill>
                  <a:srgbClr val="2B2D42"/>
                </a:solidFill>
                <a:latin typeface="Arial"/>
              </a:defRPr>
            </a:pPr>
            <a:r>
              <a:t>   - Tối ưu hiệu năng: Tính toán trực tiếp bằng Java trên danh sách nạp sẵn ở bộ nhớ đệm RAM, không gọi SQL tính trung bình giúp giảm tải I/O ghi đĩa SQLite.</a:t>
            </a:r>
          </a:p>
        </p:txBody>
      </p:sp>
      <p:sp>
        <p:nvSpPr>
          <p:cNvPr id="5" name="Rounded Rectangle 4"/>
          <p:cNvSpPr/>
          <p:nvPr/>
        </p:nvSpPr>
        <p:spPr>
          <a:xfrm>
            <a:off x="7772400" y="1645920"/>
            <a:ext cx="2560320" cy="4389120"/>
          </a:xfrm>
          <a:prstGeom prst="roundRect">
            <a:avLst/>
          </a:prstGeom>
          <a:solidFill>
            <a:srgbClr val="F0F0F3"/>
          </a:solidFill>
          <a:ln w="19050">
            <a:solidFill>
              <a:srgbClr val="B4B4B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defRPr sz="1000" b="1">
                <a:solidFill>
                  <a:srgbClr val="8C919E"/>
                </a:solidFill>
                <a:latin typeface="Arial"/>
              </a:defRPr>
            </a:pPr>
            <a:br/>
            <a:br/>
            <a:br/>
            <a:br/>
            <a:r>
              <a:t>[ Kéo ảnh ]</a:t>
            </a:r>
            <a:br/>
            <a:r>
              <a:t>Màn Yêu thích</a:t>
            </a:r>
            <a:br/>
            <a:r>
              <a:t>(FavoritesFragment)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DANH SÁCH ĐI CHỢ &amp; LỊCH SỬ NẤU ĂN</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5486400" cy="4389120"/>
          </a:xfrm>
          <a:prstGeom prst="rect">
            <a:avLst/>
          </a:prstGeom>
          <a:noFill/>
        </p:spPr>
        <p:txBody>
          <a:bodyPr wrap="square">
            <a:spAutoFit/>
          </a:bodyPr>
          <a:lstStyle/>
          <a:p>
            <a:pPr>
              <a:spcAft>
                <a:spcPts val="800"/>
              </a:spcAft>
              <a:defRPr sz="1800" b="1">
                <a:solidFill>
                  <a:srgbClr val="FF6B35"/>
                </a:solidFill>
                <a:latin typeface="Arial"/>
              </a:defRPr>
            </a:pPr>
            <a:r>
              <a:t>• Danh sách đi chợ (GroceryListFragment):</a:t>
            </a:r>
          </a:p>
          <a:p>
            <a:pPr>
              <a:spcAft>
                <a:spcPts val="500"/>
              </a:spcAft>
              <a:defRPr sz="1500" b="0">
                <a:solidFill>
                  <a:srgbClr val="2B2D42"/>
                </a:solidFill>
                <a:latin typeface="Arial"/>
              </a:defRPr>
            </a:pPr>
            <a:r>
              <a:t>   - RecyclerView lồng nhau (Nested RV): Gom nhóm nguyên liệu theo món ăn gốc.</a:t>
            </a:r>
          </a:p>
          <a:p>
            <a:pPr>
              <a:spcAft>
                <a:spcPts val="500"/>
              </a:spcAft>
              <a:defRPr sz="1500" b="0">
                <a:solidFill>
                  <a:srgbClr val="2B2D42"/>
                </a:solidFill>
                <a:latin typeface="Arial"/>
              </a:defRPr>
            </a:pPr>
            <a:r>
              <a:t>   - Cho phép thêm nguyên liệu ngoài tự do (recipeId = NULL).</a:t>
            </a:r>
          </a:p>
          <a:p>
            <a:pPr>
              <a:spcAft>
                <a:spcPts val="500"/>
              </a:spcAft>
              <a:defRPr sz="1500" b="0">
                <a:solidFill>
                  <a:srgbClr val="2B2D42"/>
                </a:solidFill>
                <a:latin typeface="Arial"/>
              </a:defRPr>
            </a:pPr>
            <a:r>
              <a:t>   - Callback Interface đồng bộ trạng thái check mua lên SQLite.</a:t>
            </a:r>
          </a:p>
          <a:p>
            <a:pPr>
              <a:spcAft>
                <a:spcPts val="1500"/>
              </a:spcAft>
              <a:defRPr sz="1500" b="0">
                <a:solidFill>
                  <a:srgbClr val="2B2D42"/>
                </a:solidFill>
                <a:latin typeface="Arial"/>
              </a:defRPr>
            </a:pPr>
            <a:r>
              <a:t>   - ProgressBar thông minh đổi sang màu xanh ngọc khi mua đủ đồ.</a:t>
            </a:r>
          </a:p>
          <a:p>
            <a:pPr>
              <a:spcAft>
                <a:spcPts val="800"/>
              </a:spcAft>
              <a:defRPr sz="1800" b="1">
                <a:solidFill>
                  <a:srgbClr val="FF6B35"/>
                </a:solidFill>
                <a:latin typeface="Arial"/>
              </a:defRPr>
            </a:pPr>
            <a:r>
              <a:t>• Lịch sử nấu ăn (Cook History):</a:t>
            </a:r>
          </a:p>
          <a:p>
            <a:pPr>
              <a:spcAft>
                <a:spcPts val="500"/>
              </a:spcAft>
              <a:defRPr sz="1500" b="0">
                <a:solidFill>
                  <a:srgbClr val="2B2D42"/>
                </a:solidFill>
                <a:latin typeface="Arial"/>
              </a:defRPr>
            </a:pPr>
            <a:r>
              <a:t>   - Ghi nhận món ăn sau khi nấu thành công vào bảng CookHistory để phục vụ thống kê cá nhân.</a:t>
            </a:r>
          </a:p>
        </p:txBody>
      </p:sp>
      <p:sp>
        <p:nvSpPr>
          <p:cNvPr id="5" name="Rounded Rectangle 4"/>
          <p:cNvSpPr/>
          <p:nvPr/>
        </p:nvSpPr>
        <p:spPr>
          <a:xfrm>
            <a:off x="7772400" y="1645920"/>
            <a:ext cx="2560320" cy="4389120"/>
          </a:xfrm>
          <a:prstGeom prst="roundRect">
            <a:avLst/>
          </a:prstGeom>
          <a:solidFill>
            <a:srgbClr val="F0F0F3"/>
          </a:solidFill>
          <a:ln w="19050">
            <a:solidFill>
              <a:srgbClr val="B4B4B9"/>
            </a:solidFill>
            <a:prstDash val="sysDash"/>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defRPr sz="1000" b="1">
                <a:solidFill>
                  <a:srgbClr val="8C919E"/>
                </a:solidFill>
                <a:latin typeface="Arial"/>
              </a:defRPr>
            </a:pPr>
            <a:br/>
            <a:br/>
            <a:br/>
            <a:br/>
            <a:r>
              <a:t>[ Kéo ảnh ]</a:t>
            </a:r>
            <a:br/>
            <a:r>
              <a:t>Màn Đi chợ</a:t>
            </a:r>
            <a:br/>
            <a:r>
              <a:t>(GroceryListFragment)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extBox 1"/>
          <p:cNvSpPr txBox="1"/>
          <p:nvPr/>
        </p:nvSpPr>
        <p:spPr>
          <a:xfrm>
            <a:off x="685800" y="457200"/>
            <a:ext cx="10820095" cy="731520"/>
          </a:xfrm>
          <a:prstGeom prst="rect">
            <a:avLst/>
          </a:prstGeom>
          <a:noFill/>
        </p:spPr>
        <p:txBody>
          <a:bodyPr wrap="square" lIns="0" tIns="0" rIns="0" bIns="0">
            <a:spAutoFit/>
          </a:bodyPr>
          <a:lstStyle/>
          <a:p>
            <a:pPr>
              <a:defRPr sz="2600" b="1">
                <a:solidFill>
                  <a:srgbClr val="2B2D42"/>
                </a:solidFill>
                <a:latin typeface="Arial"/>
              </a:defRPr>
            </a:pPr>
            <a:r>
              <a:t>XÁC THỰC, CÁ NHÂN &amp; KẾ HOẠCH TƯƠNG LAI</a:t>
            </a:r>
          </a:p>
        </p:txBody>
      </p:sp>
      <p:sp>
        <p:nvSpPr>
          <p:cNvPr id="3" name="Rectangle 2"/>
          <p:cNvSpPr/>
          <p:nvPr/>
        </p:nvSpPr>
        <p:spPr>
          <a:xfrm>
            <a:off x="685800" y="1097280"/>
            <a:ext cx="1097280" cy="45720"/>
          </a:xfrm>
          <a:prstGeom prst="rect">
            <a:avLst/>
          </a:prstGeom>
          <a:solidFill>
            <a:srgbClr val="FF6B35"/>
          </a:solidFill>
          <a:ln>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1645920"/>
            <a:ext cx="5120640" cy="4114800"/>
          </a:xfrm>
          <a:prstGeom prst="roundRect">
            <a:avLst/>
          </a:prstGeom>
          <a:solidFill>
            <a:srgbClr val="2B2D42"/>
          </a:solidFill>
          <a:ln>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1500"/>
              </a:spcAft>
              <a:defRPr sz="1800" b="1">
                <a:solidFill>
                  <a:srgbClr val="FF6B35"/>
                </a:solidFill>
                <a:latin typeface="Arial"/>
              </a:defRPr>
            </a:pPr>
            <a:r>
              <a:t>KẾT QUẢ ĐÃ ĐẠT ĐƯỢC</a:t>
            </a:r>
          </a:p>
          <a:p>
            <a:pPr>
              <a:spcAft>
                <a:spcPts val="800"/>
              </a:spcAft>
              <a:defRPr sz="1500" b="0">
                <a:solidFill>
                  <a:srgbClr val="FFFFFF"/>
                </a:solidFill>
                <a:latin typeface="Arial"/>
              </a:defRPr>
            </a:pPr>
            <a:r>
              <a:t>✓ Hoàn thành luồng nghiệp vụ khép kín.</a:t>
            </a:r>
          </a:p>
          <a:p>
            <a:pPr>
              <a:spcAft>
                <a:spcPts val="800"/>
              </a:spcAft>
              <a:defRPr sz="1500" b="0">
                <a:solidFill>
                  <a:srgbClr val="FFFFFF"/>
                </a:solidFill>
                <a:latin typeface="Arial"/>
              </a:defRPr>
            </a:pPr>
            <a:r>
              <a:t>✓ Tạo thành công CSDL SQLite offline tối ưu, tự động dọn dẹp bằng cascade khóa ngoại.</a:t>
            </a:r>
          </a:p>
          <a:p>
            <a:pPr>
              <a:spcAft>
                <a:spcPts val="800"/>
              </a:spcAft>
              <a:defRPr sz="1500" b="0">
                <a:solidFill>
                  <a:srgbClr val="FFFFFF"/>
                </a:solidFill>
                <a:latin typeface="Arial"/>
              </a:defRPr>
            </a:pPr>
            <a:r>
              <a:t>✓ Giao diện mượt mà, tối giản hóa lượng truy cập đĩa cứng thông qua cache dữ liệu trên RAM.</a:t>
            </a:r>
          </a:p>
        </p:txBody>
      </p:sp>
      <p:sp>
        <p:nvSpPr>
          <p:cNvPr id="5" name="Rounded Rectangle 4"/>
          <p:cNvSpPr/>
          <p:nvPr/>
        </p:nvSpPr>
        <p:spPr>
          <a:xfrm>
            <a:off x="6382512" y="1645920"/>
            <a:ext cx="5120640" cy="4114800"/>
          </a:xfrm>
          <a:prstGeom prst="roundRect">
            <a:avLst/>
          </a:prstGeom>
          <a:solidFill>
            <a:srgbClr val="FFFFFF"/>
          </a:solidFill>
          <a:ln>
            <a:solidFill>
              <a:srgbClr val="B4B4B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1500"/>
              </a:spcAft>
              <a:defRPr sz="1800" b="1">
                <a:solidFill>
                  <a:srgbClr val="FF6B35"/>
                </a:solidFill>
                <a:latin typeface="Arial"/>
              </a:defRPr>
            </a:pPr>
            <a:r>
              <a:t>KẾ HOẠCH PHÁT TRIỂN</a:t>
            </a:r>
          </a:p>
          <a:p>
            <a:pPr>
              <a:spcAft>
                <a:spcPts val="800"/>
              </a:spcAft>
              <a:defRPr sz="1500" b="0">
                <a:solidFill>
                  <a:srgbClr val="2B2D42"/>
                </a:solidFill>
                <a:latin typeface="Arial"/>
              </a:defRPr>
            </a:pPr>
            <a:r>
              <a:t>• Tăng cường bảo mật: Tích hợp mã hóa mật khẩu tài khoản bằng BCrypt/SHA-256.</a:t>
            </a:r>
          </a:p>
          <a:p>
            <a:pPr>
              <a:spcAft>
                <a:spcPts val="800"/>
              </a:spcAft>
              <a:defRPr sz="1500" b="0">
                <a:solidFill>
                  <a:srgbClr val="2B2D42"/>
                </a:solidFill>
                <a:latin typeface="Arial"/>
              </a:defRPr>
            </a:pPr>
            <a:r>
              <a:t>• Đồng bộ đám mây: Chuyển đổi dữ liệu offline SQLite lên máy chủ trực tuyến (Firebase/MySQL).</a:t>
            </a:r>
          </a:p>
          <a:p>
            <a:pPr>
              <a:spcAft>
                <a:spcPts val="800"/>
              </a:spcAft>
              <a:defRPr sz="1500" b="0">
                <a:solidFill>
                  <a:srgbClr val="2B2D42"/>
                </a:solidFill>
                <a:latin typeface="Arial"/>
              </a:defRPr>
            </a:pPr>
            <a:r>
              <a:t>• Tính năng AI: Gợi ý thực đơn thông minh dựa trên sở thích và calo tiêu thụ hàng ngày.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