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hội đồng. Hôm nay chúng em xin trình bày đồ án CookBook - Cẩm nang nấu ăn và đi chợ thông minh.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đặt ra bài toán giải quyết khó khăn khi lên thực đơn và đi chợ. Giải pháp CookBook kết nối khép kín hai khâu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Ứng dụng gồm 4 phần chức năng chính: Hệ thống tài khoản, Tra cứu chi tiết công thức, Quản lý yêu thích &amp; dinh dưỡng, Đi chợ &amp; Lịch sử.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sử dụng Java Android SDK thuần để tối ưu hiệu năng thiết bị. SQLite quản lý dữ liệu offline kết hợp cơ chế khóa ngoại và SharedPreferences duy trì phiên.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trải nghiệm đi liền mạch từ lúc mở màn hình Splash, thực hiện đăng nhập, duyệt món ăn, xem chi tiết, yêu thích, đi chợ và hoàn thành nấu nướng.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chủ giúp người dùng duyệt danh mục món ăn nhanh chóng, tích hợp tìm kiếm không dấu thân thiện cho người dùng Việt Nam.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Màn hình chi tiết công thức là nơi hiển thị Calo và các bước nấu ăn. Người dùng có thể thả tim yêu thích và bấm thêm nguyên liệu đi chợ trực tiếp từ đây.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Màn hình Yêu thích hiển thị danh sách dạng lưới 2 cột. Việc thống kê Calo trung bình được tính toán trực tiếp trên RAM thay vì gọi query cơ sở dữ liệu liên tục để tối ưu hiệu năng.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Màn đi chợ gom nhóm nguyên liệu theo từng món qua RecyclerView lồng nhau. ProgressBar hiển thị tiến độ hoàn thành theo thời gian thực và đổi màu động khi mua xong.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đã hoàn thành toàn bộ mục tiêu của đề tài CookBook. Hướng phát triển tiếp theo là tăng cường bảo mật mật khẩu, đồng bộ đám mây và gợi ý thực đơn bằng 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B2D42"/>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3200400" cy="4114800"/>
          </a:xfrm>
          <a:prstGeom prst="rect">
            <a:avLst/>
          </a:prstGeom>
          <a:noFill/>
        </p:spPr>
        <p:txBody>
          <a:bodyPr wrap="square">
            <a:spAutoFit/>
          </a:bodyPr>
          <a:lstStyle/>
          <a:p>
            <a:pPr>
              <a:spcAft>
                <a:spcPts val="2000"/>
              </a:spcAft>
              <a:defRPr sz="2800" b="1">
                <a:solidFill>
                  <a:srgbClr val="FFFFFF"/>
                </a:solidFill>
                <a:latin typeface="Arial"/>
              </a:defRPr>
            </a:pPr>
            <a:r>
              <a:t>MOBILE APP</a:t>
            </a:r>
            <a:br/>
            <a:r>
              <a:t>DEVELOPMENT</a:t>
            </a:r>
          </a:p>
          <a:p>
            <a:pPr>
              <a:defRPr sz="1600">
                <a:solidFill>
                  <a:srgbClr val="2B2D42"/>
                </a:solidFill>
                <a:latin typeface="Arial"/>
              </a:defRPr>
            </a:pPr>
            <a:r>
              <a:t>ĐỒ ÁN PHÁT TRIỂN</a:t>
            </a:r>
            <a:br/>
            <a:r>
              <a:t>ỨNG DỤNG DI ĐỘNG</a:t>
            </a:r>
          </a:p>
        </p:txBody>
      </p:sp>
      <p:sp>
        <p:nvSpPr>
          <p:cNvPr id="4" name="TextBox 3"/>
          <p:cNvSpPr txBox="1"/>
          <p:nvPr/>
        </p:nvSpPr>
        <p:spPr>
          <a:xfrm>
            <a:off x="4754880" y="1828800"/>
            <a:ext cx="6858000" cy="2743200"/>
          </a:xfrm>
          <a:prstGeom prst="rect">
            <a:avLst/>
          </a:prstGeom>
          <a:noFill/>
        </p:spPr>
        <p:txBody>
          <a:bodyPr wrap="square">
            <a:spAutoFit/>
          </a:bodyPr>
          <a:lstStyle/>
          <a:p>
            <a:pPr>
              <a:defRPr sz="5600" b="1">
                <a:solidFill>
                  <a:srgbClr val="FF6B35"/>
                </a:solidFill>
                <a:latin typeface="Arial"/>
              </a:defRPr>
            </a:pPr>
            <a:r>
              <a:t>COOKBOOK APP</a:t>
            </a:r>
          </a:p>
          <a:p>
            <a:pPr>
              <a:defRPr sz="2000" b="1">
                <a:solidFill>
                  <a:srgbClr val="FFFFFF"/>
                </a:solidFill>
                <a:latin typeface="Arial"/>
              </a:defRPr>
            </a:pPr>
            <a:r>
              <a:t>Cẩm nang nấu ăn &amp; Đi chợ thông minh toàn diện</a:t>
            </a:r>
          </a:p>
        </p:txBody>
      </p:sp>
      <p:sp>
        <p:nvSpPr>
          <p:cNvPr id="5" name="TextBox 4"/>
          <p:cNvSpPr txBox="1"/>
          <p:nvPr/>
        </p:nvSpPr>
        <p:spPr>
          <a:xfrm>
            <a:off x="4754880" y="4389120"/>
            <a:ext cx="6858000" cy="1645920"/>
          </a:xfrm>
          <a:prstGeom prst="rect">
            <a:avLst/>
          </a:prstGeom>
          <a:noFill/>
        </p:spPr>
        <p:txBody>
          <a:bodyPr wrap="none">
            <a:spAutoFit/>
          </a:bodyPr>
          <a:lstStyle/>
          <a:p>
            <a:pPr>
              <a:spcAft>
                <a:spcPts val="400"/>
              </a:spcAft>
              <a:defRPr sz="1400" b="1">
                <a:solidFill>
                  <a:srgbClr val="FFFFFF"/>
                </a:solidFill>
                <a:latin typeface="Arial"/>
              </a:defRPr>
            </a:pPr>
            <a:r>
              <a:t>• Sinh viên thực hiện: Nguyễn Văn An - Nguyễn Trung Hiếu - Nguyễn Tuấn Đạt</a:t>
            </a:r>
          </a:p>
          <a:p>
            <a:pPr>
              <a:spcAft>
                <a:spcPts val="400"/>
              </a:spcAft>
              <a:defRPr sz="1200" b="0">
                <a:solidFill>
                  <a:srgbClr val="8C919E"/>
                </a:solidFill>
                <a:latin typeface="Arial"/>
              </a:defRPr>
            </a:pPr>
            <a:r>
              <a:t>• Giáo viên hướng dẫn: Bộ môn Phát triển Ứng dụng Di động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MỤC TIÊU ĐỀ TÀI &amp; GIẢI PHÁP</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347472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500"/>
              </a:spcAft>
              <a:defRPr sz="1800" b="1">
                <a:solidFill>
                  <a:srgbClr val="FF6B35"/>
                </a:solidFill>
                <a:latin typeface="Arial"/>
              </a:defRPr>
            </a:pPr>
            <a:r>
              <a:t>KHÓ KHĂN THỰC TẾ</a:t>
            </a:r>
          </a:p>
          <a:p>
            <a:pPr>
              <a:spcAft>
                <a:spcPts val="1000"/>
              </a:spcAft>
              <a:defRPr sz="1300" b="0">
                <a:solidFill>
                  <a:srgbClr val="FFFFFF"/>
                </a:solidFill>
                <a:latin typeface="Arial"/>
              </a:defRPr>
            </a:pPr>
            <a:r>
              <a:t>- Người nội trợ khó tìm kiếm món ăn theo lượng Calo và độ khó nấu.</a:t>
            </a:r>
          </a:p>
          <a:p>
            <a:pPr>
              <a:spcAft>
                <a:spcPts val="1000"/>
              </a:spcAft>
              <a:defRPr sz="1300" b="0">
                <a:solidFill>
                  <a:srgbClr val="FFFFFF"/>
                </a:solidFill>
                <a:latin typeface="Arial"/>
              </a:defRPr>
            </a:pPr>
            <a:r>
              <a:t>- Thất lạc công thức chi tiết.</a:t>
            </a:r>
          </a:p>
          <a:p>
            <a:pPr>
              <a:spcAft>
                <a:spcPts val="1000"/>
              </a:spcAft>
              <a:defRPr sz="1300" b="0">
                <a:solidFill>
                  <a:srgbClr val="FFFFFF"/>
                </a:solidFill>
                <a:latin typeface="Arial"/>
              </a:defRPr>
            </a:pPr>
            <a:r>
              <a:t>- Đi siêu thị chuẩn bị nguyên liệu nấu nướng thường dễ quên đồ.</a:t>
            </a:r>
          </a:p>
        </p:txBody>
      </p:sp>
      <p:sp>
        <p:nvSpPr>
          <p:cNvPr id="5" name="Rounded Rectangle 4"/>
          <p:cNvSpPr/>
          <p:nvPr/>
        </p:nvSpPr>
        <p:spPr>
          <a:xfrm>
            <a:off x="4389120" y="1463040"/>
            <a:ext cx="3474720" cy="457200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500"/>
              </a:spcAft>
              <a:defRPr sz="1800" b="1">
                <a:solidFill>
                  <a:srgbClr val="FF6B35"/>
                </a:solidFill>
                <a:latin typeface="Arial"/>
              </a:defRPr>
            </a:pPr>
            <a:r>
              <a:t>GIẢI PHÁP COOKBOOK</a:t>
            </a:r>
          </a:p>
          <a:p>
            <a:pPr>
              <a:spcAft>
                <a:spcPts val="1000"/>
              </a:spcAft>
              <a:defRPr sz="1300" b="0">
                <a:solidFill>
                  <a:srgbClr val="2B2D42"/>
                </a:solidFill>
                <a:latin typeface="Arial"/>
              </a:defRPr>
            </a:pPr>
            <a:r>
              <a:t>- Tích hợp đa dạng công thức nấu ăn, chi tiết dinh dưỡng.</a:t>
            </a:r>
          </a:p>
          <a:p>
            <a:pPr>
              <a:spcAft>
                <a:spcPts val="1000"/>
              </a:spcAft>
              <a:defRPr sz="1300" b="0">
                <a:solidFill>
                  <a:srgbClr val="2B2D42"/>
                </a:solidFill>
                <a:latin typeface="Arial"/>
              </a:defRPr>
            </a:pPr>
            <a:r>
              <a:t>- Tự động đồng bộ nguyên liệu món ăn vào danh sách đi chợ.</a:t>
            </a:r>
          </a:p>
          <a:p>
            <a:pPr>
              <a:spcAft>
                <a:spcPts val="1000"/>
              </a:spcAft>
              <a:defRPr sz="1300" b="0">
                <a:solidFill>
                  <a:srgbClr val="2B2D42"/>
                </a:solidFill>
                <a:latin typeface="Arial"/>
              </a:defRPr>
            </a:pPr>
            <a:r>
              <a:t>- Thống kê sức khỏe &amp; cá nhân hóa lịch sử nấu nướng.</a:t>
            </a:r>
          </a:p>
        </p:txBody>
      </p:sp>
      <p:sp>
        <p:nvSpPr>
          <p:cNvPr id="6" name="Rounded Rectangle 5"/>
          <p:cNvSpPr/>
          <p:nvPr/>
        </p:nvSpPr>
        <p:spPr>
          <a:xfrm>
            <a:off x="8686800" y="146304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96528" y="169164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Splash (Chào)</a:t>
            </a:r>
          </a:p>
        </p:txBody>
      </p:sp>
      <p:sp>
        <p:nvSpPr>
          <p:cNvPr id="8" name="Rounded Rectangle 7"/>
          <p:cNvSpPr/>
          <p:nvPr/>
        </p:nvSpPr>
        <p:spPr>
          <a:xfrm>
            <a:off x="9464040" y="152704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CÁC CHỨC NĂNG CHÍNH CÓ TRONG APP</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554480"/>
            <a:ext cx="2468880" cy="4206240"/>
          </a:xfrm>
          <a:prstGeom prst="roundRect">
            <a:avLst/>
          </a:prstGeom>
          <a:solidFill>
            <a:srgbClr val="FFFFFF"/>
          </a:solidFill>
          <a:ln>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500"/>
              </a:spcAft>
              <a:defRPr sz="2600" b="1">
                <a:solidFill>
                  <a:srgbClr val="FF6B35"/>
                </a:solidFill>
                <a:latin typeface="Arial"/>
              </a:defRPr>
            </a:pPr>
            <a:r>
              <a:t>01</a:t>
            </a:r>
          </a:p>
          <a:p>
            <a:pPr>
              <a:spcAft>
                <a:spcPts val="1000"/>
              </a:spcAft>
              <a:defRPr sz="1500" b="1">
                <a:solidFill>
                  <a:srgbClr val="2B2D42"/>
                </a:solidFill>
                <a:latin typeface="Arial"/>
              </a:defRPr>
            </a:pPr>
            <a:r>
              <a:t>Đăng ký &amp; Đăng nhập</a:t>
            </a:r>
          </a:p>
          <a:p>
            <a:pPr>
              <a:spcAft>
                <a:spcPts val="800"/>
              </a:spcAft>
              <a:defRPr sz="1200" b="0">
                <a:solidFill>
                  <a:srgbClr val="8C919E"/>
                </a:solidFill>
                <a:latin typeface="Arial"/>
              </a:defRPr>
            </a:pPr>
            <a:r>
              <a:t>Bảo mật tài khoản, xác thực email và lưu giữ phiên đăng nhập qua SharedPreferences.</a:t>
            </a:r>
          </a:p>
        </p:txBody>
      </p:sp>
      <p:sp>
        <p:nvSpPr>
          <p:cNvPr id="5" name="Rounded Rectangle 4"/>
          <p:cNvSpPr/>
          <p:nvPr/>
        </p:nvSpPr>
        <p:spPr>
          <a:xfrm>
            <a:off x="3429000" y="1554480"/>
            <a:ext cx="2468880" cy="4206240"/>
          </a:xfrm>
          <a:prstGeom prst="roundRect">
            <a:avLst/>
          </a:prstGeom>
          <a:solidFill>
            <a:srgbClr val="FFFFFF"/>
          </a:solidFill>
          <a:ln>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500"/>
              </a:spcAft>
              <a:defRPr sz="2600" b="1">
                <a:solidFill>
                  <a:srgbClr val="FF6B35"/>
                </a:solidFill>
                <a:latin typeface="Arial"/>
              </a:defRPr>
            </a:pPr>
            <a:r>
              <a:t>02</a:t>
            </a:r>
          </a:p>
          <a:p>
            <a:pPr>
              <a:spcAft>
                <a:spcPts val="1000"/>
              </a:spcAft>
              <a:defRPr sz="1500" b="1">
                <a:solidFill>
                  <a:srgbClr val="2B2D42"/>
                </a:solidFill>
                <a:latin typeface="Arial"/>
              </a:defRPr>
            </a:pPr>
            <a:r>
              <a:t>Tìm kiếm &amp; Chi tiết</a:t>
            </a:r>
          </a:p>
          <a:p>
            <a:pPr>
              <a:spcAft>
                <a:spcPts val="800"/>
              </a:spcAft>
              <a:defRPr sz="1200" b="0">
                <a:solidFill>
                  <a:srgbClr val="8C919E"/>
                </a:solidFill>
                <a:latin typeface="Arial"/>
              </a:defRPr>
            </a:pPr>
            <a:r>
              <a:t>Tìm món ăn thông minh không dấu, xem nguyên liệu, định lượng và hướng dẫn từng bước nấu.</a:t>
            </a:r>
          </a:p>
        </p:txBody>
      </p:sp>
      <p:sp>
        <p:nvSpPr>
          <p:cNvPr id="6" name="Rounded Rectangle 5"/>
          <p:cNvSpPr/>
          <p:nvPr/>
        </p:nvSpPr>
        <p:spPr>
          <a:xfrm>
            <a:off x="6172200" y="1554480"/>
            <a:ext cx="2468880" cy="4206240"/>
          </a:xfrm>
          <a:prstGeom prst="roundRect">
            <a:avLst/>
          </a:prstGeom>
          <a:solidFill>
            <a:srgbClr val="FFFFFF"/>
          </a:solidFill>
          <a:ln>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500"/>
              </a:spcAft>
              <a:defRPr sz="2600" b="1">
                <a:solidFill>
                  <a:srgbClr val="FF6B35"/>
                </a:solidFill>
                <a:latin typeface="Arial"/>
              </a:defRPr>
            </a:pPr>
            <a:r>
              <a:t>03</a:t>
            </a:r>
          </a:p>
          <a:p>
            <a:pPr>
              <a:spcAft>
                <a:spcPts val="1000"/>
              </a:spcAft>
              <a:defRPr sz="1500" b="1">
                <a:solidFill>
                  <a:srgbClr val="2B2D42"/>
                </a:solidFill>
                <a:latin typeface="Arial"/>
              </a:defRPr>
            </a:pPr>
            <a:r>
              <a:t>Yêu thích &amp; Thống kê</a:t>
            </a:r>
          </a:p>
          <a:p>
            <a:pPr>
              <a:spcAft>
                <a:spcPts val="800"/>
              </a:spcAft>
              <a:defRPr sz="1200" b="0">
                <a:solidFill>
                  <a:srgbClr val="8C919E"/>
                </a:solidFill>
                <a:latin typeface="Arial"/>
              </a:defRPr>
            </a:pPr>
            <a:r>
              <a:t>Lưu trữ món ăn yêu thích, bộ lọc nâng cao và thẻ thống kê năng lượng Calo trung bình.</a:t>
            </a:r>
          </a:p>
        </p:txBody>
      </p:sp>
      <p:sp>
        <p:nvSpPr>
          <p:cNvPr id="7" name="Rounded Rectangle 6"/>
          <p:cNvSpPr/>
          <p:nvPr/>
        </p:nvSpPr>
        <p:spPr>
          <a:xfrm>
            <a:off x="8915400" y="1554480"/>
            <a:ext cx="2468880" cy="4206240"/>
          </a:xfrm>
          <a:prstGeom prst="roundRect">
            <a:avLst/>
          </a:prstGeom>
          <a:solidFill>
            <a:srgbClr val="FFFFFF"/>
          </a:solidFill>
          <a:ln>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500"/>
              </a:spcAft>
              <a:defRPr sz="2600" b="1">
                <a:solidFill>
                  <a:srgbClr val="FF6B35"/>
                </a:solidFill>
                <a:latin typeface="Arial"/>
              </a:defRPr>
            </a:pPr>
            <a:r>
              <a:t>04</a:t>
            </a:r>
          </a:p>
          <a:p>
            <a:pPr>
              <a:spcAft>
                <a:spcPts val="1000"/>
              </a:spcAft>
              <a:defRPr sz="1500" b="1">
                <a:solidFill>
                  <a:srgbClr val="2B2D42"/>
                </a:solidFill>
                <a:latin typeface="Arial"/>
              </a:defRPr>
            </a:pPr>
            <a:r>
              <a:t>Đi chợ &amp; Lịch sử</a:t>
            </a:r>
          </a:p>
          <a:p>
            <a:pPr>
              <a:spcAft>
                <a:spcPts val="800"/>
              </a:spcAft>
              <a:defRPr sz="1200" b="0">
                <a:solidFill>
                  <a:srgbClr val="8C919E"/>
                </a:solidFill>
                <a:latin typeface="Arial"/>
              </a:defRPr>
            </a:pPr>
            <a:r>
              <a:t>Gom nguyên liệu theo món, cập nhật tiến trình mua sắm, ghi nhận lịch sử món ăn đã nấu.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CÔNG NGHỆ VÀ KIẾN TRÚC HỆ THỐNG</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011680"/>
            <a:ext cx="2468880" cy="329184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800" b="1">
                <a:solidFill>
                  <a:srgbClr val="FF6B35"/>
                </a:solidFill>
                <a:latin typeface="Arial"/>
              </a:defRPr>
            </a:pPr>
            <a:r>
              <a:t>JAVA &amp; ANDROID</a:t>
            </a:r>
          </a:p>
          <a:p>
            <a:pPr>
              <a:spcAft>
                <a:spcPts val="1500"/>
              </a:spcAft>
              <a:defRPr sz="1100" b="1">
                <a:solidFill>
                  <a:srgbClr val="8C919E"/>
                </a:solidFill>
                <a:latin typeface="Arial"/>
              </a:defRPr>
            </a:pPr>
            <a:r>
              <a:t>Native Development</a:t>
            </a:r>
          </a:p>
          <a:p>
            <a:pPr>
              <a:spcAft>
                <a:spcPts val="800"/>
              </a:spcAft>
              <a:defRPr sz="1200" b="0">
                <a:solidFill>
                  <a:srgbClr val="FFFFFF"/>
                </a:solidFill>
                <a:latin typeface="Arial"/>
              </a:defRPr>
            </a:pPr>
            <a:r>
              <a:t>Ngôn ngữ phát triển cốt lõi. Thiết kế mô hình Single Activity điều hướng Fragment linh hoạt, tối ưu bộ nhớ RAM.</a:t>
            </a:r>
          </a:p>
        </p:txBody>
      </p:sp>
      <p:sp>
        <p:nvSpPr>
          <p:cNvPr id="5" name="Rectangle 4"/>
          <p:cNvSpPr/>
          <p:nvPr/>
        </p:nvSpPr>
        <p:spPr>
          <a:xfrm>
            <a:off x="3429000" y="2011680"/>
            <a:ext cx="2468880" cy="329184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800" b="1">
                <a:solidFill>
                  <a:srgbClr val="FF6B35"/>
                </a:solidFill>
                <a:latin typeface="Arial"/>
              </a:defRPr>
            </a:pPr>
            <a:r>
              <a:t>SQLITE DATABASE</a:t>
            </a:r>
          </a:p>
          <a:p>
            <a:pPr>
              <a:spcAft>
                <a:spcPts val="1500"/>
              </a:spcAft>
              <a:defRPr sz="1100" b="1">
                <a:solidFill>
                  <a:srgbClr val="8C919E"/>
                </a:solidFill>
                <a:latin typeface="Arial"/>
              </a:defRPr>
            </a:pPr>
            <a:r>
              <a:t>Local Data Engine</a:t>
            </a:r>
          </a:p>
          <a:p>
            <a:pPr>
              <a:spcAft>
                <a:spcPts val="800"/>
              </a:spcAft>
              <a:defRPr sz="1200" b="0">
                <a:solidFill>
                  <a:srgbClr val="FFFFFF"/>
                </a:solidFill>
                <a:latin typeface="Arial"/>
              </a:defRPr>
            </a:pPr>
            <a:r>
              <a:t>Quản lý dữ liệu quan hệ (Users, Recipes, Favorites, Grocery). Ràng buộc khóa ngoại hỗ trợ tự động dọn dẹp rác.</a:t>
            </a:r>
          </a:p>
        </p:txBody>
      </p:sp>
      <p:sp>
        <p:nvSpPr>
          <p:cNvPr id="6" name="Rectangle 5"/>
          <p:cNvSpPr/>
          <p:nvPr/>
        </p:nvSpPr>
        <p:spPr>
          <a:xfrm>
            <a:off x="6172200" y="2011680"/>
            <a:ext cx="2468880" cy="329184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800" b="1">
                <a:solidFill>
                  <a:srgbClr val="FF6B35"/>
                </a:solidFill>
                <a:latin typeface="Arial"/>
              </a:defRPr>
            </a:pPr>
            <a:r>
              <a:t>SHAREDPREF</a:t>
            </a:r>
          </a:p>
          <a:p>
            <a:pPr>
              <a:spcAft>
                <a:spcPts val="1500"/>
              </a:spcAft>
              <a:defRPr sz="1100" b="1">
                <a:solidFill>
                  <a:srgbClr val="8C919E"/>
                </a:solidFill>
                <a:latin typeface="Arial"/>
              </a:defRPr>
            </a:pPr>
            <a:r>
              <a:t>Session Keeper</a:t>
            </a:r>
          </a:p>
          <a:p>
            <a:pPr>
              <a:spcAft>
                <a:spcPts val="800"/>
              </a:spcAft>
              <a:defRPr sz="1200" b="0">
                <a:solidFill>
                  <a:srgbClr val="FFFFFF"/>
                </a:solidFill>
                <a:latin typeface="Arial"/>
              </a:defRPr>
            </a:pPr>
            <a:r>
              <a:t>Lưu trữ phiên đăng nhập của người dùng ngoại tuyến cực kỳ gọn nhẹ dưới dạng Key-Value bảo mật.</a:t>
            </a:r>
          </a:p>
        </p:txBody>
      </p:sp>
      <p:sp>
        <p:nvSpPr>
          <p:cNvPr id="7" name="Rectangle 6"/>
          <p:cNvSpPr/>
          <p:nvPr/>
        </p:nvSpPr>
        <p:spPr>
          <a:xfrm>
            <a:off x="8915400" y="2011680"/>
            <a:ext cx="2468880" cy="3291840"/>
          </a:xfrm>
          <a:prstGeom prst="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800" b="1">
                <a:solidFill>
                  <a:srgbClr val="FF6B35"/>
                </a:solidFill>
                <a:latin typeface="Arial"/>
              </a:defRPr>
            </a:pPr>
            <a:r>
              <a:t>MATERIAL DESIGN</a:t>
            </a:r>
          </a:p>
          <a:p>
            <a:pPr>
              <a:spcAft>
                <a:spcPts val="1500"/>
              </a:spcAft>
              <a:defRPr sz="1100" b="1">
                <a:solidFill>
                  <a:srgbClr val="8C919E"/>
                </a:solidFill>
                <a:latin typeface="Arial"/>
              </a:defRPr>
            </a:pPr>
            <a:r>
              <a:t>Modern Interface</a:t>
            </a:r>
          </a:p>
          <a:p>
            <a:pPr>
              <a:spcAft>
                <a:spcPts val="800"/>
              </a:spcAft>
              <a:defRPr sz="1200" b="0">
                <a:solidFill>
                  <a:srgbClr val="FFFFFF"/>
                </a:solidFill>
                <a:latin typeface="Arial"/>
              </a:defRPr>
            </a:pPr>
            <a:r>
              <a:t>RecyclerView lồng nhau (Nested RV), BottomNavigationView hiện đại, custom Adapter cho lưới và tiến trình.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LUỒNG HOẠT ĐỘNG CHÍNH CỦA NGƯỜI DÙNG</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1</a:t>
            </a:r>
          </a:p>
          <a:p>
            <a:pPr>
              <a:spcAft>
                <a:spcPts val="800"/>
              </a:spcAft>
              <a:defRPr sz="1300" b="1">
                <a:solidFill>
                  <a:srgbClr val="2B2D42"/>
                </a:solidFill>
                <a:latin typeface="Arial"/>
              </a:defRPr>
            </a:pPr>
            <a:r>
              <a:t>Khởi động</a:t>
            </a:r>
          </a:p>
          <a:p>
            <a:pPr>
              <a:spcAft>
                <a:spcPts val="500"/>
              </a:spcAft>
              <a:defRPr sz="1100" b="0">
                <a:solidFill>
                  <a:srgbClr val="8C919E"/>
                </a:solidFill>
                <a:latin typeface="Arial"/>
              </a:defRPr>
            </a:pPr>
            <a:r>
              <a:t>Splash screen giới thiệu thương hiệu ứng dụng.</a:t>
            </a:r>
          </a:p>
        </p:txBody>
      </p:sp>
      <p:sp>
        <p:nvSpPr>
          <p:cNvPr id="5" name="Right Arrow 4"/>
          <p:cNvSpPr/>
          <p:nvPr/>
        </p:nvSpPr>
        <p:spPr>
          <a:xfrm>
            <a:off x="2313432" y="3291840"/>
            <a:ext cx="128016" cy="128016"/>
          </a:xfrm>
          <a:prstGeom prst="right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6888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2</a:t>
            </a:r>
          </a:p>
          <a:p>
            <a:pPr>
              <a:spcAft>
                <a:spcPts val="800"/>
              </a:spcAft>
              <a:defRPr sz="1300" b="1">
                <a:solidFill>
                  <a:srgbClr val="2B2D42"/>
                </a:solidFill>
                <a:latin typeface="Arial"/>
              </a:defRPr>
            </a:pPr>
            <a:r>
              <a:t>Đăng nhập</a:t>
            </a:r>
          </a:p>
          <a:p>
            <a:pPr>
              <a:spcAft>
                <a:spcPts val="500"/>
              </a:spcAft>
              <a:defRPr sz="1100" b="0">
                <a:solidFill>
                  <a:srgbClr val="8C919E"/>
                </a:solidFill>
                <a:latin typeface="Arial"/>
              </a:defRPr>
            </a:pPr>
            <a:r>
              <a:t>Xác thực tài khoản và kiểm tra phiên người dùng.</a:t>
            </a:r>
          </a:p>
        </p:txBody>
      </p:sp>
      <p:sp>
        <p:nvSpPr>
          <p:cNvPr id="7" name="Right Arrow 6"/>
          <p:cNvSpPr/>
          <p:nvPr/>
        </p:nvSpPr>
        <p:spPr>
          <a:xfrm>
            <a:off x="4096512" y="3291840"/>
            <a:ext cx="128016" cy="128016"/>
          </a:xfrm>
          <a:prstGeom prst="right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5196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3</a:t>
            </a:r>
          </a:p>
          <a:p>
            <a:pPr>
              <a:spcAft>
                <a:spcPts val="800"/>
              </a:spcAft>
              <a:defRPr sz="1300" b="1">
                <a:solidFill>
                  <a:srgbClr val="2B2D42"/>
                </a:solidFill>
                <a:latin typeface="Arial"/>
              </a:defRPr>
            </a:pPr>
            <a:r>
              <a:t>Khám phá</a:t>
            </a:r>
          </a:p>
          <a:p>
            <a:pPr>
              <a:spcAft>
                <a:spcPts val="500"/>
              </a:spcAft>
              <a:defRPr sz="1100" b="0">
                <a:solidFill>
                  <a:srgbClr val="8C919E"/>
                </a:solidFill>
                <a:latin typeface="Arial"/>
              </a:defRPr>
            </a:pPr>
            <a:r>
              <a:t>Duyệt danh mục hoặc Tìm kiếm không dấu tại Home.</a:t>
            </a:r>
          </a:p>
        </p:txBody>
      </p:sp>
      <p:sp>
        <p:nvSpPr>
          <p:cNvPr id="9" name="Right Arrow 8"/>
          <p:cNvSpPr/>
          <p:nvPr/>
        </p:nvSpPr>
        <p:spPr>
          <a:xfrm>
            <a:off x="5879592" y="3291840"/>
            <a:ext cx="128016" cy="128016"/>
          </a:xfrm>
          <a:prstGeom prst="right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3504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4</a:t>
            </a:r>
          </a:p>
          <a:p>
            <a:pPr>
              <a:spcAft>
                <a:spcPts val="800"/>
              </a:spcAft>
              <a:defRPr sz="1300" b="1">
                <a:solidFill>
                  <a:srgbClr val="2B2D42"/>
                </a:solidFill>
                <a:latin typeface="Arial"/>
              </a:defRPr>
            </a:pPr>
            <a:r>
              <a:t>Xem chi tiết</a:t>
            </a:r>
          </a:p>
          <a:p>
            <a:pPr>
              <a:spcAft>
                <a:spcPts val="500"/>
              </a:spcAft>
              <a:defRPr sz="1100" b="0">
                <a:solidFill>
                  <a:srgbClr val="8C919E"/>
                </a:solidFill>
                <a:latin typeface="Arial"/>
              </a:defRPr>
            </a:pPr>
            <a:r>
              <a:t>Đọc nguyên liệu chuẩn bị và hướng dẫn nấu món.</a:t>
            </a:r>
          </a:p>
        </p:txBody>
      </p:sp>
      <p:sp>
        <p:nvSpPr>
          <p:cNvPr id="11" name="Right Arrow 10"/>
          <p:cNvSpPr/>
          <p:nvPr/>
        </p:nvSpPr>
        <p:spPr>
          <a:xfrm>
            <a:off x="7662672" y="3291840"/>
            <a:ext cx="128016" cy="128016"/>
          </a:xfrm>
          <a:prstGeom prst="right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1812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5</a:t>
            </a:r>
          </a:p>
          <a:p>
            <a:pPr>
              <a:spcAft>
                <a:spcPts val="800"/>
              </a:spcAft>
              <a:defRPr sz="1300" b="1">
                <a:solidFill>
                  <a:srgbClr val="2B2D42"/>
                </a:solidFill>
                <a:latin typeface="Arial"/>
              </a:defRPr>
            </a:pPr>
            <a:r>
              <a:t>Lưu &amp; Chọn</a:t>
            </a:r>
          </a:p>
          <a:p>
            <a:pPr>
              <a:spcAft>
                <a:spcPts val="500"/>
              </a:spcAft>
              <a:defRPr sz="1100" b="0">
                <a:solidFill>
                  <a:srgbClr val="8C919E"/>
                </a:solidFill>
                <a:latin typeface="Arial"/>
              </a:defRPr>
            </a:pPr>
            <a:r>
              <a:t>Thả tim yêu thích, thêm nguyên liệu đi chợ.</a:t>
            </a:r>
          </a:p>
        </p:txBody>
      </p:sp>
      <p:sp>
        <p:nvSpPr>
          <p:cNvPr id="13" name="Right Arrow 12"/>
          <p:cNvSpPr/>
          <p:nvPr/>
        </p:nvSpPr>
        <p:spPr>
          <a:xfrm>
            <a:off x="9445752" y="3291840"/>
            <a:ext cx="128016" cy="128016"/>
          </a:xfrm>
          <a:prstGeom prst="right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0" y="2011680"/>
            <a:ext cx="1600200" cy="3108960"/>
          </a:xfrm>
          <a:prstGeom prst="roundRect">
            <a:avLst/>
          </a:prstGeom>
          <a:solidFill>
            <a:srgbClr val="FFFFFF"/>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spcAft>
                <a:spcPts val="500"/>
              </a:spcAft>
              <a:defRPr sz="1200" b="1">
                <a:solidFill>
                  <a:srgbClr val="FF6B35"/>
                </a:solidFill>
                <a:latin typeface="Arial"/>
              </a:defRPr>
            </a:pPr>
            <a:r>
              <a:t>BƯỚC 6</a:t>
            </a:r>
          </a:p>
          <a:p>
            <a:pPr>
              <a:spcAft>
                <a:spcPts val="800"/>
              </a:spcAft>
              <a:defRPr sz="1300" b="1">
                <a:solidFill>
                  <a:srgbClr val="2B2D42"/>
                </a:solidFill>
                <a:latin typeface="Arial"/>
              </a:defRPr>
            </a:pPr>
            <a:r>
              <a:t>Đi chợ</a:t>
            </a:r>
          </a:p>
          <a:p>
            <a:pPr>
              <a:spcAft>
                <a:spcPts val="500"/>
              </a:spcAft>
              <a:defRPr sz="1100" b="0">
                <a:solidFill>
                  <a:srgbClr val="8C919E"/>
                </a:solidFill>
                <a:latin typeface="Arial"/>
              </a:defRPr>
            </a:pPr>
            <a:r>
              <a:t>Tick chọn mua sắm hoàn thành &amp; Lưu lịch sử.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TRANG CHỦ &amp; TÌM KIẾM KHÔNG DẤU</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5486400" cy="4389120"/>
          </a:xfrm>
          <a:prstGeom prst="rect">
            <a:avLst/>
          </a:prstGeom>
          <a:noFill/>
        </p:spPr>
        <p:txBody>
          <a:bodyPr wrap="square">
            <a:spAutoFit/>
          </a:bodyPr>
          <a:lstStyle/>
          <a:p>
            <a:pPr>
              <a:spcAft>
                <a:spcPts val="600"/>
              </a:spcAft>
              <a:defRPr sz="1700" b="1">
                <a:solidFill>
                  <a:srgbClr val="FF6B35"/>
                </a:solidFill>
                <a:latin typeface="Arial"/>
              </a:defRPr>
            </a:pPr>
            <a:r>
              <a:t>• Giao diện Trang chủ (HomeFragment):</a:t>
            </a:r>
          </a:p>
          <a:p>
            <a:pPr>
              <a:spcAft>
                <a:spcPts val="400"/>
              </a:spcAft>
              <a:defRPr sz="1300" b="0">
                <a:solidFill>
                  <a:srgbClr val="2B2D42"/>
                </a:solidFill>
                <a:latin typeface="Arial"/>
              </a:defRPr>
            </a:pPr>
            <a:r>
              <a:t>- Phân chia Danh mục món ăn (Category) trực quan.</a:t>
            </a:r>
          </a:p>
          <a:p>
            <a:pPr>
              <a:spcAft>
                <a:spcPts val="400"/>
              </a:spcAft>
              <a:defRPr sz="1300" b="0">
                <a:solidFill>
                  <a:srgbClr val="2B2D42"/>
                </a:solidFill>
                <a:latin typeface="Arial"/>
              </a:defRPr>
            </a:pPr>
            <a:r>
              <a:t>- Gợi ý món ăn phổ biến (Popular Recipes) dựa trên đánh giá cao.</a:t>
            </a:r>
          </a:p>
          <a:p>
            <a:pPr>
              <a:spcAft>
                <a:spcPts val="1500"/>
              </a:spcAft>
              <a:defRPr sz="1300" b="0">
                <a:solidFill>
                  <a:srgbClr val="2B2D42"/>
                </a:solidFill>
                <a:latin typeface="Arial"/>
              </a:defRPr>
            </a:pPr>
            <a:r>
              <a:t>- Món ngon ngẫu nhiên mỗi ngày (Today's Pick) tạo hứng thú.</a:t>
            </a:r>
          </a:p>
          <a:p>
            <a:pPr>
              <a:spcAft>
                <a:spcPts val="600"/>
              </a:spcAft>
              <a:defRPr sz="1700" b="1">
                <a:solidFill>
                  <a:srgbClr val="FF6B35"/>
                </a:solidFill>
                <a:latin typeface="Arial"/>
              </a:defRPr>
            </a:pPr>
            <a:r>
              <a:t>• Tìm kiếm thông minh (SearchFragment):</a:t>
            </a:r>
          </a:p>
          <a:p>
            <a:pPr>
              <a:spcAft>
                <a:spcPts val="400"/>
              </a:spcAft>
              <a:defRPr sz="1300" b="0">
                <a:solidFill>
                  <a:srgbClr val="2B2D42"/>
                </a:solidFill>
                <a:latin typeface="Arial"/>
              </a:defRPr>
            </a:pPr>
            <a:r>
              <a:t>- Chuẩn hóa không dấu StringHelper.removeAccents.</a:t>
            </a:r>
          </a:p>
          <a:p>
            <a:pPr>
              <a:spcAft>
                <a:spcPts val="500"/>
              </a:spcAft>
              <a:defRPr sz="1300" b="0">
                <a:solidFill>
                  <a:srgbClr val="2B2D42"/>
                </a:solidFill>
                <a:latin typeface="Arial"/>
              </a:defRPr>
            </a:pPr>
            <a:r>
              <a:t>- Gõ không dấu (ví dụ: 'nem cuon') vẫn hiển thị chính xác kết quả tiếng Việt, giúp tìm kiếm nhanh chóng.</a:t>
            </a:r>
          </a:p>
        </p:txBody>
      </p:sp>
      <p:sp>
        <p:nvSpPr>
          <p:cNvPr id="5" name="Rounded Rectangle 4"/>
          <p:cNvSpPr/>
          <p:nvPr/>
        </p:nvSpPr>
        <p:spPr>
          <a:xfrm>
            <a:off x="6858000" y="164592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67728" y="187452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Trang chủ</a:t>
            </a:r>
          </a:p>
        </p:txBody>
      </p:sp>
      <p:sp>
        <p:nvSpPr>
          <p:cNvPr id="7" name="Rounded Rectangle 6"/>
          <p:cNvSpPr/>
          <p:nvPr/>
        </p:nvSpPr>
        <p:spPr>
          <a:xfrm>
            <a:off x="7635240" y="170992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235440" y="164592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45168" y="187452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Tìm kiếm</a:t>
            </a:r>
          </a:p>
        </p:txBody>
      </p:sp>
      <p:sp>
        <p:nvSpPr>
          <p:cNvPr id="10" name="Rounded Rectangle 9"/>
          <p:cNvSpPr/>
          <p:nvPr/>
        </p:nvSpPr>
        <p:spPr>
          <a:xfrm>
            <a:off x="10012680" y="170992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CHI TIẾT MÓN ĂN (RECIPE DETAIL)</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5486400" cy="4389120"/>
          </a:xfrm>
          <a:prstGeom prst="rect">
            <a:avLst/>
          </a:prstGeom>
          <a:noFill/>
        </p:spPr>
        <p:txBody>
          <a:bodyPr wrap="square">
            <a:spAutoFit/>
          </a:bodyPr>
          <a:lstStyle/>
          <a:p>
            <a:pPr>
              <a:spcAft>
                <a:spcPts val="600"/>
              </a:spcAft>
              <a:defRPr sz="1700" b="1">
                <a:solidFill>
                  <a:srgbClr val="FF6B35"/>
                </a:solidFill>
                <a:latin typeface="Arial"/>
              </a:defRPr>
            </a:pPr>
            <a:r>
              <a:t>• Nội dung hiển thị chi tiết:</a:t>
            </a:r>
          </a:p>
          <a:p>
            <a:pPr>
              <a:spcAft>
                <a:spcPts val="400"/>
              </a:spcAft>
              <a:defRPr sz="1300" b="0">
                <a:solidFill>
                  <a:srgbClr val="2B2D42"/>
                </a:solidFill>
                <a:latin typeface="Arial"/>
              </a:defRPr>
            </a:pPr>
            <a:r>
              <a:t>- Trực quan hóa lượng Calo, thời gian nấu, độ khó và số phần ăn.</a:t>
            </a:r>
          </a:p>
          <a:p>
            <a:pPr>
              <a:spcAft>
                <a:spcPts val="400"/>
              </a:spcAft>
              <a:defRPr sz="1300" b="0">
                <a:solidFill>
                  <a:srgbClr val="2B2D42"/>
                </a:solidFill>
                <a:latin typeface="Arial"/>
              </a:defRPr>
            </a:pPr>
            <a:r>
              <a:t>- Danh sách nguyên liệu cần chuẩn bị cụ thể định lượng.</a:t>
            </a:r>
          </a:p>
          <a:p>
            <a:pPr>
              <a:spcAft>
                <a:spcPts val="1500"/>
              </a:spcAft>
              <a:defRPr sz="1300" b="0">
                <a:solidFill>
                  <a:srgbClr val="2B2D42"/>
                </a:solidFill>
                <a:latin typeface="Arial"/>
              </a:defRPr>
            </a:pPr>
            <a:r>
              <a:t>- Các bước nấu ăn (Steps) kèm hình ảnh mô tả rõ ràng.</a:t>
            </a:r>
          </a:p>
          <a:p>
            <a:pPr>
              <a:spcAft>
                <a:spcPts val="600"/>
              </a:spcAft>
              <a:defRPr sz="1700" b="1">
                <a:solidFill>
                  <a:srgbClr val="FF6B35"/>
                </a:solidFill>
                <a:latin typeface="Arial"/>
              </a:defRPr>
            </a:pPr>
            <a:r>
              <a:t>• Điểm kết nối nghiệp vụ:</a:t>
            </a:r>
          </a:p>
          <a:p>
            <a:pPr>
              <a:spcAft>
                <a:spcPts val="400"/>
              </a:spcAft>
              <a:defRPr sz="1300" b="0">
                <a:solidFill>
                  <a:srgbClr val="2B2D42"/>
                </a:solidFill>
                <a:latin typeface="Arial"/>
              </a:defRPr>
            </a:pPr>
            <a:r>
              <a:t>- Nút Thả tim: Thêm vào Yêu thích nhanh để lưu trữ.</a:t>
            </a:r>
          </a:p>
          <a:p>
            <a:pPr>
              <a:spcAft>
                <a:spcPts val="500"/>
              </a:spcAft>
              <a:defRPr sz="1300" b="0">
                <a:solidFill>
                  <a:srgbClr val="2B2D42"/>
                </a:solidFill>
                <a:latin typeface="Arial"/>
              </a:defRPr>
            </a:pPr>
            <a:r>
              <a:t>- Nút Đi chợ: Tự động trích lọc toàn bộ nguyên liệu cần mua sang giỏ đi chợ chỉ với một lần click.</a:t>
            </a:r>
          </a:p>
        </p:txBody>
      </p:sp>
      <p:sp>
        <p:nvSpPr>
          <p:cNvPr id="5" name="Rounded Rectangle 4"/>
          <p:cNvSpPr/>
          <p:nvPr/>
        </p:nvSpPr>
        <p:spPr>
          <a:xfrm>
            <a:off x="7772400" y="164592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82128" y="187452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Chi tiết công thức</a:t>
            </a:r>
          </a:p>
        </p:txBody>
      </p:sp>
      <p:sp>
        <p:nvSpPr>
          <p:cNvPr id="7" name="Rounded Rectangle 6"/>
          <p:cNvSpPr/>
          <p:nvPr/>
        </p:nvSpPr>
        <p:spPr>
          <a:xfrm>
            <a:off x="8549640" y="170992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LƯU TRỮ YÊU THÍCH &amp; THỐNG KÊ</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5486400" cy="4389120"/>
          </a:xfrm>
          <a:prstGeom prst="rect">
            <a:avLst/>
          </a:prstGeom>
          <a:noFill/>
        </p:spPr>
        <p:txBody>
          <a:bodyPr wrap="square">
            <a:spAutoFit/>
          </a:bodyPr>
          <a:lstStyle/>
          <a:p>
            <a:pPr>
              <a:spcAft>
                <a:spcPts val="600"/>
              </a:spcAft>
              <a:defRPr sz="1700" b="1">
                <a:solidFill>
                  <a:srgbClr val="FF6B35"/>
                </a:solidFill>
                <a:latin typeface="Arial"/>
              </a:defRPr>
            </a:pPr>
            <a:r>
              <a:t>• Quản lý Yêu thích (FavoritesFragment):</a:t>
            </a:r>
          </a:p>
          <a:p>
            <a:pPr>
              <a:spcAft>
                <a:spcPts val="400"/>
              </a:spcAft>
              <a:defRPr sz="1300" b="0">
                <a:solidFill>
                  <a:srgbClr val="2B2D42"/>
                </a:solidFill>
                <a:latin typeface="Arial"/>
              </a:defRPr>
            </a:pPr>
            <a:r>
              <a:t>- Khóa chính kết hợp (userId, recipeId) tránh trùng lặp dữ liệu.</a:t>
            </a:r>
          </a:p>
          <a:p>
            <a:pPr>
              <a:spcAft>
                <a:spcPts val="1500"/>
              </a:spcAft>
              <a:defRPr sz="1300" b="0">
                <a:solidFill>
                  <a:srgbClr val="2B2D42"/>
                </a:solidFill>
                <a:latin typeface="Arial"/>
              </a:defRPr>
            </a:pPr>
            <a:r>
              <a:t>- Sắp xếp đa dạng: Mới nhất, Tiêu đề A-Z, Độ khó (SQL CASE WHEN chuyển đổi độ khó sang thang điểm 1, 2, 3).</a:t>
            </a:r>
          </a:p>
          <a:p>
            <a:pPr>
              <a:spcAft>
                <a:spcPts val="600"/>
              </a:spcAft>
              <a:defRPr sz="1700" b="1">
                <a:solidFill>
                  <a:srgbClr val="FF6B35"/>
                </a:solidFill>
                <a:latin typeface="Arial"/>
              </a:defRPr>
            </a:pPr>
            <a:r>
              <a:t>• Thẻ thống kê dinh dưỡng thông minh (Stats Card):</a:t>
            </a:r>
          </a:p>
          <a:p>
            <a:pPr>
              <a:spcAft>
                <a:spcPts val="400"/>
              </a:spcAft>
              <a:defRPr sz="1300" b="0">
                <a:solidFill>
                  <a:srgbClr val="2B2D42"/>
                </a:solidFill>
                <a:latin typeface="Arial"/>
              </a:defRPr>
            </a:pPr>
            <a:r>
              <a:t>- Thống kê tổng số món, trung bình Calo, trung bình thời gian nấu.</a:t>
            </a:r>
          </a:p>
          <a:p>
            <a:pPr>
              <a:spcAft>
                <a:spcPts val="500"/>
              </a:spcAft>
              <a:defRPr sz="1300" b="0">
                <a:solidFill>
                  <a:srgbClr val="2B2D42"/>
                </a:solidFill>
                <a:latin typeface="Arial"/>
              </a:defRPr>
            </a:pPr>
            <a:r>
              <a:t>- Giải pháp hiệu năng: Tính toán trực tiếp bằng Java trên danh sách món ăn đang cache tại RAM, loại bỏ truy vấn SQL phụ giúp tối ưu pin và tốc độ.</a:t>
            </a:r>
          </a:p>
        </p:txBody>
      </p:sp>
      <p:sp>
        <p:nvSpPr>
          <p:cNvPr id="5" name="Rounded Rectangle 4"/>
          <p:cNvSpPr/>
          <p:nvPr/>
        </p:nvSpPr>
        <p:spPr>
          <a:xfrm>
            <a:off x="7772400" y="164592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82128" y="187452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Yêu thích</a:t>
            </a:r>
          </a:p>
        </p:txBody>
      </p:sp>
      <p:sp>
        <p:nvSpPr>
          <p:cNvPr id="7" name="Rounded Rectangle 6"/>
          <p:cNvSpPr/>
          <p:nvPr/>
        </p:nvSpPr>
        <p:spPr>
          <a:xfrm>
            <a:off x="8549640" y="170992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DANH SÁCH ĐI CHỢ &amp; LỊCH SỬ NẤU ĂN</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5486400" cy="4389120"/>
          </a:xfrm>
          <a:prstGeom prst="rect">
            <a:avLst/>
          </a:prstGeom>
          <a:noFill/>
        </p:spPr>
        <p:txBody>
          <a:bodyPr wrap="square">
            <a:spAutoFit/>
          </a:bodyPr>
          <a:lstStyle/>
          <a:p>
            <a:pPr>
              <a:spcAft>
                <a:spcPts val="600"/>
              </a:spcAft>
              <a:defRPr sz="1700" b="1">
                <a:solidFill>
                  <a:srgbClr val="FF6B35"/>
                </a:solidFill>
                <a:latin typeface="Arial"/>
              </a:defRPr>
            </a:pPr>
            <a:r>
              <a:t>• Danh sách đi chợ (GroceryListFragment):</a:t>
            </a:r>
          </a:p>
          <a:p>
            <a:pPr>
              <a:spcAft>
                <a:spcPts val="400"/>
              </a:spcAft>
              <a:defRPr sz="1300" b="0">
                <a:solidFill>
                  <a:srgbClr val="2B2D42"/>
                </a:solidFill>
                <a:latin typeface="Arial"/>
              </a:defRPr>
            </a:pPr>
            <a:r>
              <a:t>- RecyclerView lồng nhau (Nested RV): Gom nhóm nguyên liệu khoa học theo từng món ăn. Nhóm phụ 'Mua thêm' cho nguyên liệu tự thêm thủ công.</a:t>
            </a:r>
          </a:p>
          <a:p>
            <a:pPr>
              <a:spcAft>
                <a:spcPts val="400"/>
              </a:spcAft>
              <a:defRPr sz="1300" b="0">
                <a:solidFill>
                  <a:srgbClr val="2B2D42"/>
                </a:solidFill>
                <a:latin typeface="Arial"/>
              </a:defRPr>
            </a:pPr>
            <a:r>
              <a:t>- Đồng bộ Checkbox: Thay đổi trạng thái mua lên SQLite tức thời thông qua Interface Callback giữa adapter con và Fragment.</a:t>
            </a:r>
          </a:p>
          <a:p>
            <a:pPr>
              <a:spcAft>
                <a:spcPts val="1500"/>
              </a:spcAft>
              <a:defRPr sz="1300" b="0">
                <a:solidFill>
                  <a:srgbClr val="2B2D42"/>
                </a:solidFill>
                <a:latin typeface="Arial"/>
              </a:defRPr>
            </a:pPr>
            <a:r>
              <a:t>- Tiến độ ProgressBar: Tự động đổi sang màu xanh ngọc khi mua đủ đồ.</a:t>
            </a:r>
          </a:p>
          <a:p>
            <a:pPr>
              <a:spcAft>
                <a:spcPts val="600"/>
              </a:spcAft>
              <a:defRPr sz="1700" b="1">
                <a:solidFill>
                  <a:srgbClr val="FF6B35"/>
                </a:solidFill>
                <a:latin typeface="Arial"/>
              </a:defRPr>
            </a:pPr>
            <a:r>
              <a:t>• Lịch sử nấu ăn (Cook History):</a:t>
            </a:r>
          </a:p>
          <a:p>
            <a:pPr>
              <a:spcAft>
                <a:spcPts val="500"/>
              </a:spcAft>
              <a:defRPr sz="1300" b="0">
                <a:solidFill>
                  <a:srgbClr val="2B2D42"/>
                </a:solidFill>
                <a:latin typeface="Arial"/>
              </a:defRPr>
            </a:pPr>
            <a:r>
              <a:t>- Ghi nhận món ăn sau khi hoàn thành nấu nướng để hiển thị thống kê cá nhân.</a:t>
            </a:r>
          </a:p>
        </p:txBody>
      </p:sp>
      <p:sp>
        <p:nvSpPr>
          <p:cNvPr id="5" name="Rounded Rectangle 4"/>
          <p:cNvSpPr/>
          <p:nvPr/>
        </p:nvSpPr>
        <p:spPr>
          <a:xfrm>
            <a:off x="7772400" y="1645920"/>
            <a:ext cx="2286000" cy="45720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82128" y="1874520"/>
            <a:ext cx="2066544" cy="4114800"/>
          </a:xfrm>
          <a:prstGeom prst="rect">
            <a:avLst/>
          </a:prstGeom>
          <a:solidFill>
            <a:srgbClr val="F8F9FC"/>
          </a:solidFill>
          <a:ln w="19050">
            <a:solidFill>
              <a:srgbClr val="D2D7DF"/>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8C919E"/>
                </a:solidFill>
                <a:latin typeface="Arial"/>
              </a:defRPr>
            </a:pPr>
            <a:br/>
            <a:br/>
            <a:br/>
            <a:br/>
            <a:br/>
            <a:r>
              <a:t>[ Kéo ảnh chụp ]</a:t>
            </a:r>
            <a:br/>
            <a:r>
              <a:t>Màn Danh sách đi chợ</a:t>
            </a:r>
          </a:p>
        </p:txBody>
      </p:sp>
      <p:sp>
        <p:nvSpPr>
          <p:cNvPr id="7" name="Rounded Rectangle 6"/>
          <p:cNvSpPr/>
          <p:nvPr/>
        </p:nvSpPr>
        <p:spPr>
          <a:xfrm>
            <a:off x="8549640" y="1709928"/>
            <a:ext cx="731520" cy="128016"/>
          </a:xfrm>
          <a:prstGeom prst="round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lIns="0" tIns="0" rIns="0" bIns="0">
            <a:spAutoFit/>
          </a:bodyPr>
          <a:lstStyle/>
          <a:p>
            <a:pPr>
              <a:defRPr sz="2400" b="1">
                <a:solidFill>
                  <a:srgbClr val="2B2D42"/>
                </a:solidFill>
                <a:latin typeface="Arial"/>
              </a:defRPr>
            </a:pPr>
            <a:r>
              <a:t>XÁC THỰC, CÁ NHÂN &amp; KẾT LUẬN</a:t>
            </a:r>
          </a:p>
        </p:txBody>
      </p:sp>
      <p:sp>
        <p:nvSpPr>
          <p:cNvPr id="3" name="Rectangle 2"/>
          <p:cNvSpPr/>
          <p:nvPr/>
        </p:nvSpPr>
        <p:spPr>
          <a:xfrm>
            <a:off x="685800" y="1051560"/>
            <a:ext cx="10972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5120640" cy="4114800"/>
          </a:xfrm>
          <a:prstGeom prst="roundRect">
            <a:avLst/>
          </a:prstGeom>
          <a:solidFill>
            <a:srgbClr val="2B2D42"/>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500"/>
              </a:spcAft>
              <a:defRPr sz="1800" b="1">
                <a:solidFill>
                  <a:srgbClr val="FF6B35"/>
                </a:solidFill>
                <a:latin typeface="Arial"/>
              </a:defRPr>
            </a:pPr>
            <a:r>
              <a:t>KẾT QUẢ ĐÃ ĐẠT ĐƯỢC</a:t>
            </a:r>
          </a:p>
          <a:p>
            <a:pPr>
              <a:spcAft>
                <a:spcPts val="800"/>
              </a:spcAft>
              <a:defRPr sz="1300" b="0">
                <a:solidFill>
                  <a:srgbClr val="FFFFFF"/>
                </a:solidFill>
                <a:latin typeface="Arial"/>
              </a:defRPr>
            </a:pPr>
            <a:r>
              <a:t>✓ Hoàn thành luồng nghiệp vụ khép kín từ Đăng nhập, Duyệt món, Lưu trữ đến Đi chợ.</a:t>
            </a:r>
          </a:p>
          <a:p>
            <a:pPr>
              <a:spcAft>
                <a:spcPts val="800"/>
              </a:spcAft>
              <a:defRPr sz="1300" b="0">
                <a:solidFill>
                  <a:srgbClr val="FFFFFF"/>
                </a:solidFill>
                <a:latin typeface="Arial"/>
              </a:defRPr>
            </a:pPr>
            <a:r>
              <a:t>✓ Cơ sở dữ liệu SQLite thiết kế tối ưu, dọn dẹp dữ liệu rác tự động bằng CASCADE.</a:t>
            </a:r>
          </a:p>
          <a:p>
            <a:pPr>
              <a:spcAft>
                <a:spcPts val="800"/>
              </a:spcAft>
              <a:defRPr sz="1300" b="0">
                <a:solidFill>
                  <a:srgbClr val="FFFFFF"/>
                </a:solidFill>
                <a:latin typeface="Arial"/>
              </a:defRPr>
            </a:pPr>
            <a:r>
              <a:t>✓ Tối ưu hóa hiệu năng tính toán dinh dưỡng, giảm tối đa truy cập đĩa cứng.</a:t>
            </a:r>
          </a:p>
        </p:txBody>
      </p:sp>
      <p:sp>
        <p:nvSpPr>
          <p:cNvPr id="5" name="Rounded Rectangle 4"/>
          <p:cNvSpPr/>
          <p:nvPr/>
        </p:nvSpPr>
        <p:spPr>
          <a:xfrm>
            <a:off x="6382512" y="1645920"/>
            <a:ext cx="5120640" cy="4114800"/>
          </a:xfrm>
          <a:prstGeom prst="roundRect">
            <a:avLst/>
          </a:prstGeom>
          <a:solidFill>
            <a:srgbClr val="FFFFFF"/>
          </a:solidFill>
          <a:ln>
            <a:solidFill>
              <a:srgbClr val="D2D7D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500"/>
              </a:spcAft>
              <a:defRPr sz="1800" b="1">
                <a:solidFill>
                  <a:srgbClr val="FF6B35"/>
                </a:solidFill>
                <a:latin typeface="Arial"/>
              </a:defRPr>
            </a:pPr>
            <a:r>
              <a:t>KẾ HOẠCH PHÁT TRIỂN</a:t>
            </a:r>
          </a:p>
          <a:p>
            <a:pPr>
              <a:spcAft>
                <a:spcPts val="800"/>
              </a:spcAft>
              <a:defRPr sz="1300" b="0">
                <a:solidFill>
                  <a:srgbClr val="2B2D42"/>
                </a:solidFill>
                <a:latin typeface="Arial"/>
              </a:defRPr>
            </a:pPr>
            <a:r>
              <a:t>• Nâng cao bảo mật: Tích hợp mã hóa mật khẩu tài khoản người dùng bằng BCrypt.</a:t>
            </a:r>
          </a:p>
          <a:p>
            <a:pPr>
              <a:spcAft>
                <a:spcPts val="800"/>
              </a:spcAft>
              <a:defRPr sz="1300" b="0">
                <a:solidFill>
                  <a:srgbClr val="2B2D42"/>
                </a:solidFill>
                <a:latin typeface="Arial"/>
              </a:defRPr>
            </a:pPr>
            <a:r>
              <a:t>• Đồng bộ Cloud: Chuyển đổi CSDL offline SQLite lên máy chủ trực tuyến.</a:t>
            </a:r>
          </a:p>
          <a:p>
            <a:pPr>
              <a:spcAft>
                <a:spcPts val="800"/>
              </a:spcAft>
              <a:defRPr sz="1300" b="0">
                <a:solidFill>
                  <a:srgbClr val="2B2D42"/>
                </a:solidFill>
                <a:latin typeface="Arial"/>
              </a:defRPr>
            </a:pPr>
            <a:r>
              <a:t>• Tính năng AI: Tự động đề xuất thực đơn thông minh dựa trên lượng calo tiêu thụ.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